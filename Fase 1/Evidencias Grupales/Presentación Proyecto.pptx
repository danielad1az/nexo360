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lear Sans" panose="020B0604020202020204" charset="0"/>
      <p:regular r:id="rId19"/>
    </p:embeddedFont>
    <p:embeddedFont>
      <p:font typeface="Clear Sans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30" y="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23.png"/><Relationship Id="rId5" Type="http://schemas.openxmlformats.org/officeDocument/2006/relationships/image" Target="../media/image9.png"/><Relationship Id="rId10" Type="http://schemas.openxmlformats.org/officeDocument/2006/relationships/image" Target="../media/image22.svg"/><Relationship Id="rId4" Type="http://schemas.openxmlformats.org/officeDocument/2006/relationships/image" Target="../media/image18.sv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18" Type="http://schemas.openxmlformats.org/officeDocument/2006/relationships/image" Target="../media/image36.svg"/><Relationship Id="rId3" Type="http://schemas.openxmlformats.org/officeDocument/2006/relationships/image" Target="../media/image15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17" Type="http://schemas.openxmlformats.org/officeDocument/2006/relationships/image" Target="../media/image35.png"/><Relationship Id="rId2" Type="http://schemas.openxmlformats.org/officeDocument/2006/relationships/image" Target="../media/image2.png"/><Relationship Id="rId16" Type="http://schemas.openxmlformats.org/officeDocument/2006/relationships/image" Target="../media/image34.svg"/><Relationship Id="rId20" Type="http://schemas.openxmlformats.org/officeDocument/2006/relationships/image" Target="../media/image3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11" Type="http://schemas.openxmlformats.org/officeDocument/2006/relationships/image" Target="../media/image29.png"/><Relationship Id="rId5" Type="http://schemas.openxmlformats.org/officeDocument/2006/relationships/image" Target="../media/image17.png"/><Relationship Id="rId15" Type="http://schemas.openxmlformats.org/officeDocument/2006/relationships/image" Target="../media/image33.png"/><Relationship Id="rId10" Type="http://schemas.openxmlformats.org/officeDocument/2006/relationships/image" Target="../media/image28.svg"/><Relationship Id="rId19" Type="http://schemas.openxmlformats.org/officeDocument/2006/relationships/image" Target="../media/image37.png"/><Relationship Id="rId4" Type="http://schemas.openxmlformats.org/officeDocument/2006/relationships/image" Target="../media/image16.svg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344601"/>
            <a:ext cx="10510716" cy="1925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78"/>
              </a:lnSpc>
            </a:pPr>
            <a:r>
              <a:rPr lang="en-US" sz="11199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NEXO360</a:t>
            </a:r>
          </a:p>
        </p:txBody>
      </p:sp>
      <p:sp>
        <p:nvSpPr>
          <p:cNvPr id="3" name="AutoShape 3"/>
          <p:cNvSpPr/>
          <p:nvPr/>
        </p:nvSpPr>
        <p:spPr>
          <a:xfrm>
            <a:off x="1029210" y="5545395"/>
            <a:ext cx="2284101" cy="18808"/>
          </a:xfrm>
          <a:prstGeom prst="line">
            <a:avLst/>
          </a:prstGeom>
          <a:ln w="123825" cap="flat">
            <a:solidFill>
              <a:srgbClr val="F607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V="1">
            <a:off x="1028700" y="1625582"/>
            <a:ext cx="2284101" cy="33706"/>
          </a:xfrm>
          <a:prstGeom prst="line">
            <a:avLst/>
          </a:prstGeom>
          <a:ln w="123825" cap="flat">
            <a:solidFill>
              <a:srgbClr val="F607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1493271" y="26503"/>
            <a:ext cx="6794729" cy="10260497"/>
          </a:xfrm>
          <a:custGeom>
            <a:avLst/>
            <a:gdLst/>
            <a:ahLst/>
            <a:cxnLst/>
            <a:rect l="l" t="t" r="r" b="b"/>
            <a:pathLst>
              <a:path w="6794729" h="10260497">
                <a:moveTo>
                  <a:pt x="0" y="0"/>
                </a:moveTo>
                <a:lnTo>
                  <a:pt x="6794729" y="0"/>
                </a:lnTo>
                <a:lnTo>
                  <a:pt x="6794729" y="10260497"/>
                </a:lnTo>
                <a:lnTo>
                  <a:pt x="0" y="102604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8434" y="242810"/>
            <a:ext cx="6597312" cy="1187516"/>
          </a:xfrm>
          <a:custGeom>
            <a:avLst/>
            <a:gdLst/>
            <a:ahLst/>
            <a:cxnLst/>
            <a:rect l="l" t="t" r="r" b="b"/>
            <a:pathLst>
              <a:path w="6597312" h="1187516">
                <a:moveTo>
                  <a:pt x="0" y="0"/>
                </a:moveTo>
                <a:lnTo>
                  <a:pt x="6597313" y="0"/>
                </a:lnTo>
                <a:lnTo>
                  <a:pt x="6597313" y="1187516"/>
                </a:lnTo>
                <a:lnTo>
                  <a:pt x="0" y="11875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3268208"/>
            <a:ext cx="10510716" cy="1888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7"/>
              </a:lnSpc>
            </a:pPr>
            <a:r>
              <a:rPr lang="en-US" sz="4299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Plataforma web accesible de orientación y centralización de trámites y servicios digitales de Duoc UC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83978" y="5778514"/>
            <a:ext cx="5026668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Daniela Díaz R.</a:t>
            </a: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Cristian Guzmán G.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83978" y="7383159"/>
            <a:ext cx="5026668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Capstone 001D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83978" y="8244854"/>
            <a:ext cx="5026668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Felipe Krauss 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83978" y="9106549"/>
            <a:ext cx="6818841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02 de septiembre de 2026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5778514"/>
            <a:ext cx="3055278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Integrantes: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7383159"/>
            <a:ext cx="3055278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Asignatura: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8244854"/>
            <a:ext cx="3055278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Docente: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9106549"/>
            <a:ext cx="3055278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Fecha: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30527" y="1137143"/>
            <a:ext cx="2391632" cy="2138"/>
          </a:xfrm>
          <a:prstGeom prst="line">
            <a:avLst/>
          </a:prstGeom>
          <a:ln w="47625" cap="flat">
            <a:solidFill>
              <a:srgbClr val="F607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1126909" y="392539"/>
            <a:ext cx="6597312" cy="1187516"/>
          </a:xfrm>
          <a:custGeom>
            <a:avLst/>
            <a:gdLst/>
            <a:ahLst/>
            <a:cxnLst/>
            <a:rect l="l" t="t" r="r" b="b"/>
            <a:pathLst>
              <a:path w="6597312" h="1187516">
                <a:moveTo>
                  <a:pt x="0" y="0"/>
                </a:moveTo>
                <a:lnTo>
                  <a:pt x="6597312" y="0"/>
                </a:lnTo>
                <a:lnTo>
                  <a:pt x="6597312" y="1187516"/>
                </a:lnTo>
                <a:lnTo>
                  <a:pt x="0" y="11875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8650663"/>
            <a:ext cx="1183004" cy="1183004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6077E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94893" y="8887582"/>
            <a:ext cx="1050619" cy="709168"/>
          </a:xfrm>
          <a:custGeom>
            <a:avLst/>
            <a:gdLst/>
            <a:ahLst/>
            <a:cxnLst/>
            <a:rect l="l" t="t" r="r" b="b"/>
            <a:pathLst>
              <a:path w="1050619" h="709168">
                <a:moveTo>
                  <a:pt x="0" y="0"/>
                </a:moveTo>
                <a:lnTo>
                  <a:pt x="1050619" y="0"/>
                </a:lnTo>
                <a:lnTo>
                  <a:pt x="1050619" y="709168"/>
                </a:lnTo>
                <a:lnTo>
                  <a:pt x="0" y="7091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089682" y="8345863"/>
            <a:ext cx="14632713" cy="1725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Apoyo institucional</a:t>
            </a: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Complementamos WCAG 2.2 AA con la Guía de Introducción a la Accesibilidad Digital de Duoc UC </a:t>
            </a:r>
          </a:p>
        </p:txBody>
      </p:sp>
      <p:sp>
        <p:nvSpPr>
          <p:cNvPr id="9" name="AutoShape 9"/>
          <p:cNvSpPr/>
          <p:nvPr/>
        </p:nvSpPr>
        <p:spPr>
          <a:xfrm>
            <a:off x="2489733" y="8574571"/>
            <a:ext cx="0" cy="1259096"/>
          </a:xfrm>
          <a:prstGeom prst="line">
            <a:avLst/>
          </a:prstGeom>
          <a:ln w="95250" cap="flat">
            <a:solidFill>
              <a:srgbClr val="F6077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785824" y="8376864"/>
            <a:ext cx="17183100" cy="1730603"/>
            <a:chOff x="0" y="0"/>
            <a:chExt cx="4525590" cy="4557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25590" cy="455797"/>
            </a:xfrm>
            <a:custGeom>
              <a:avLst/>
              <a:gdLst/>
              <a:ahLst/>
              <a:cxnLst/>
              <a:rect l="l" t="t" r="r" b="b"/>
              <a:pathLst>
                <a:path w="4525590" h="455797">
                  <a:moveTo>
                    <a:pt x="22978" y="0"/>
                  </a:moveTo>
                  <a:lnTo>
                    <a:pt x="4502612" y="0"/>
                  </a:lnTo>
                  <a:cubicBezTo>
                    <a:pt x="4508706" y="0"/>
                    <a:pt x="4514551" y="2421"/>
                    <a:pt x="4518860" y="6730"/>
                  </a:cubicBezTo>
                  <a:cubicBezTo>
                    <a:pt x="4523169" y="11039"/>
                    <a:pt x="4525590" y="16884"/>
                    <a:pt x="4525590" y="22978"/>
                  </a:cubicBezTo>
                  <a:lnTo>
                    <a:pt x="4525590" y="432818"/>
                  </a:lnTo>
                  <a:cubicBezTo>
                    <a:pt x="4525590" y="445509"/>
                    <a:pt x="4515302" y="455797"/>
                    <a:pt x="4502612" y="455797"/>
                  </a:cubicBezTo>
                  <a:lnTo>
                    <a:pt x="22978" y="455797"/>
                  </a:lnTo>
                  <a:cubicBezTo>
                    <a:pt x="10288" y="455797"/>
                    <a:pt x="0" y="445509"/>
                    <a:pt x="0" y="432818"/>
                  </a:cubicBezTo>
                  <a:lnTo>
                    <a:pt x="0" y="22978"/>
                  </a:lnTo>
                  <a:cubicBezTo>
                    <a:pt x="0" y="10288"/>
                    <a:pt x="10288" y="0"/>
                    <a:pt x="22978" y="0"/>
                  </a:cubicBezTo>
                  <a:close/>
                </a:path>
              </a:pathLst>
            </a:custGeom>
            <a:ln w="38100" cap="rnd">
              <a:solidFill>
                <a:srgbClr val="F6077E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525590" cy="4938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85824" y="4572757"/>
            <a:ext cx="17183100" cy="1730603"/>
            <a:chOff x="0" y="0"/>
            <a:chExt cx="22910800" cy="2307471"/>
          </a:xfrm>
        </p:grpSpPr>
        <p:grpSp>
          <p:nvGrpSpPr>
            <p:cNvPr id="14" name="Group 14"/>
            <p:cNvGrpSpPr/>
            <p:nvPr/>
          </p:nvGrpSpPr>
          <p:grpSpPr>
            <a:xfrm>
              <a:off x="326271" y="365066"/>
              <a:ext cx="1577339" cy="1577339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F6077E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679298" y="609183"/>
              <a:ext cx="871284" cy="1089105"/>
            </a:xfrm>
            <a:custGeom>
              <a:avLst/>
              <a:gdLst/>
              <a:ahLst/>
              <a:cxnLst/>
              <a:rect l="l" t="t" r="r" b="b"/>
              <a:pathLst>
                <a:path w="871284" h="1089105">
                  <a:moveTo>
                    <a:pt x="0" y="0"/>
                  </a:moveTo>
                  <a:lnTo>
                    <a:pt x="871284" y="0"/>
                  </a:lnTo>
                  <a:lnTo>
                    <a:pt x="871284" y="1089105"/>
                  </a:lnTo>
                  <a:lnTo>
                    <a:pt x="0" y="10891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3074246" y="368241"/>
              <a:ext cx="19510283" cy="15043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20"/>
                </a:lnSpc>
              </a:pPr>
              <a:r>
                <a:rPr lang="en-US" sz="3300" b="1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Diseño comprensible</a:t>
              </a:r>
            </a:p>
            <a:p>
              <a:pPr algn="l">
                <a:lnSpc>
                  <a:spcPts val="4620"/>
                </a:lnSpc>
              </a:pPr>
              <a:r>
                <a:rPr lang="en-US" sz="33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Priorizamos el lenguaje claro, estructura simple y una navegación consistente</a:t>
              </a:r>
            </a:p>
          </p:txBody>
        </p:sp>
        <p:sp>
          <p:nvSpPr>
            <p:cNvPr id="19" name="AutoShape 19"/>
            <p:cNvSpPr/>
            <p:nvPr/>
          </p:nvSpPr>
          <p:spPr>
            <a:xfrm>
              <a:off x="2337814" y="314338"/>
              <a:ext cx="0" cy="1678795"/>
            </a:xfrm>
            <a:prstGeom prst="line">
              <a:avLst/>
            </a:prstGeom>
            <a:ln w="127000" cap="flat">
              <a:solidFill>
                <a:srgbClr val="F6077E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0" y="0"/>
              <a:ext cx="22910800" cy="2307471"/>
              <a:chOff x="0" y="0"/>
              <a:chExt cx="4525590" cy="455797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4525590" cy="455797"/>
              </a:xfrm>
              <a:custGeom>
                <a:avLst/>
                <a:gdLst/>
                <a:ahLst/>
                <a:cxnLst/>
                <a:rect l="l" t="t" r="r" b="b"/>
                <a:pathLst>
                  <a:path w="4525590" h="455797">
                    <a:moveTo>
                      <a:pt x="22978" y="0"/>
                    </a:moveTo>
                    <a:lnTo>
                      <a:pt x="4502612" y="0"/>
                    </a:lnTo>
                    <a:cubicBezTo>
                      <a:pt x="4508706" y="0"/>
                      <a:pt x="4514551" y="2421"/>
                      <a:pt x="4518860" y="6730"/>
                    </a:cubicBezTo>
                    <a:cubicBezTo>
                      <a:pt x="4523169" y="11039"/>
                      <a:pt x="4525590" y="16884"/>
                      <a:pt x="4525590" y="22978"/>
                    </a:cubicBezTo>
                    <a:lnTo>
                      <a:pt x="4525590" y="432818"/>
                    </a:lnTo>
                    <a:cubicBezTo>
                      <a:pt x="4525590" y="445509"/>
                      <a:pt x="4515302" y="455797"/>
                      <a:pt x="4502612" y="455797"/>
                    </a:cubicBezTo>
                    <a:lnTo>
                      <a:pt x="22978" y="455797"/>
                    </a:lnTo>
                    <a:cubicBezTo>
                      <a:pt x="10288" y="455797"/>
                      <a:pt x="0" y="445509"/>
                      <a:pt x="0" y="432818"/>
                    </a:cubicBezTo>
                    <a:lnTo>
                      <a:pt x="0" y="22978"/>
                    </a:lnTo>
                    <a:cubicBezTo>
                      <a:pt x="0" y="10288"/>
                      <a:pt x="10288" y="0"/>
                      <a:pt x="22978" y="0"/>
                    </a:cubicBezTo>
                    <a:close/>
                  </a:path>
                </a:pathLst>
              </a:custGeom>
              <a:ln w="38100" cap="rnd">
                <a:solidFill>
                  <a:srgbClr val="F6077E"/>
                </a:solidFill>
                <a:prstDash val="solid"/>
                <a:round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4525590" cy="4938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23" name="Group 23"/>
          <p:cNvGrpSpPr/>
          <p:nvPr/>
        </p:nvGrpSpPr>
        <p:grpSpPr>
          <a:xfrm>
            <a:off x="783997" y="6474811"/>
            <a:ext cx="17183100" cy="1730603"/>
            <a:chOff x="0" y="0"/>
            <a:chExt cx="22910800" cy="2307471"/>
          </a:xfrm>
        </p:grpSpPr>
        <p:grpSp>
          <p:nvGrpSpPr>
            <p:cNvPr id="24" name="Group 24"/>
            <p:cNvGrpSpPr/>
            <p:nvPr/>
          </p:nvGrpSpPr>
          <p:grpSpPr>
            <a:xfrm>
              <a:off x="326271" y="317500"/>
              <a:ext cx="1577339" cy="1577339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F6077E"/>
                </a:solidFill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502784" y="689904"/>
              <a:ext cx="1224312" cy="832532"/>
            </a:xfrm>
            <a:custGeom>
              <a:avLst/>
              <a:gdLst/>
              <a:ahLst/>
              <a:cxnLst/>
              <a:rect l="l" t="t" r="r" b="b"/>
              <a:pathLst>
                <a:path w="1224312" h="832532">
                  <a:moveTo>
                    <a:pt x="0" y="0"/>
                  </a:moveTo>
                  <a:lnTo>
                    <a:pt x="1224312" y="0"/>
                  </a:lnTo>
                  <a:lnTo>
                    <a:pt x="1224312" y="832532"/>
                  </a:lnTo>
                  <a:lnTo>
                    <a:pt x="0" y="832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3074246" y="-66675"/>
              <a:ext cx="19510283" cy="22790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20"/>
                </a:lnSpc>
              </a:pPr>
              <a:r>
                <a:rPr lang="en-US" sz="3300" b="1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Percepción</a:t>
              </a:r>
            </a:p>
            <a:p>
              <a:pPr algn="l">
                <a:lnSpc>
                  <a:spcPts val="4620"/>
                </a:lnSpc>
              </a:pPr>
              <a:r>
                <a:rPr lang="en-US" sz="33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Aplicamos contraste adecuado, jerarquía visual y contenidos legibles para distintas necesidades</a:t>
              </a:r>
            </a:p>
          </p:txBody>
        </p:sp>
        <p:sp>
          <p:nvSpPr>
            <p:cNvPr id="29" name="AutoShape 29"/>
            <p:cNvSpPr/>
            <p:nvPr/>
          </p:nvSpPr>
          <p:spPr>
            <a:xfrm>
              <a:off x="2337814" y="317500"/>
              <a:ext cx="0" cy="1678795"/>
            </a:xfrm>
            <a:prstGeom prst="line">
              <a:avLst/>
            </a:prstGeom>
            <a:ln w="127000" cap="flat">
              <a:solidFill>
                <a:srgbClr val="F6077E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0" y="0"/>
              <a:ext cx="22910800" cy="2307471"/>
              <a:chOff x="0" y="0"/>
              <a:chExt cx="4525590" cy="455797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4525590" cy="455797"/>
              </a:xfrm>
              <a:custGeom>
                <a:avLst/>
                <a:gdLst/>
                <a:ahLst/>
                <a:cxnLst/>
                <a:rect l="l" t="t" r="r" b="b"/>
                <a:pathLst>
                  <a:path w="4525590" h="455797">
                    <a:moveTo>
                      <a:pt x="22978" y="0"/>
                    </a:moveTo>
                    <a:lnTo>
                      <a:pt x="4502612" y="0"/>
                    </a:lnTo>
                    <a:cubicBezTo>
                      <a:pt x="4508706" y="0"/>
                      <a:pt x="4514551" y="2421"/>
                      <a:pt x="4518860" y="6730"/>
                    </a:cubicBezTo>
                    <a:cubicBezTo>
                      <a:pt x="4523169" y="11039"/>
                      <a:pt x="4525590" y="16884"/>
                      <a:pt x="4525590" y="22978"/>
                    </a:cubicBezTo>
                    <a:lnTo>
                      <a:pt x="4525590" y="432818"/>
                    </a:lnTo>
                    <a:cubicBezTo>
                      <a:pt x="4525590" y="445509"/>
                      <a:pt x="4515302" y="455797"/>
                      <a:pt x="4502612" y="455797"/>
                    </a:cubicBezTo>
                    <a:lnTo>
                      <a:pt x="22978" y="455797"/>
                    </a:lnTo>
                    <a:cubicBezTo>
                      <a:pt x="10288" y="455797"/>
                      <a:pt x="0" y="445509"/>
                      <a:pt x="0" y="432818"/>
                    </a:cubicBezTo>
                    <a:lnTo>
                      <a:pt x="0" y="22978"/>
                    </a:lnTo>
                    <a:cubicBezTo>
                      <a:pt x="0" y="10288"/>
                      <a:pt x="10288" y="0"/>
                      <a:pt x="22978" y="0"/>
                    </a:cubicBezTo>
                    <a:close/>
                  </a:path>
                </a:pathLst>
              </a:custGeom>
              <a:ln w="38100" cap="rnd">
                <a:solidFill>
                  <a:srgbClr val="F6077E"/>
                </a:solidFill>
                <a:prstDash val="solid"/>
                <a:round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4525590" cy="4938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3" name="TextBox 33"/>
          <p:cNvSpPr txBox="1"/>
          <p:nvPr/>
        </p:nvSpPr>
        <p:spPr>
          <a:xfrm>
            <a:off x="1028700" y="1426304"/>
            <a:ext cx="16343248" cy="1422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32"/>
              </a:lnSpc>
            </a:pPr>
            <a:r>
              <a:rPr lang="en-US" sz="8380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Nos alineamos a WCAG 2.2 AA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8700" y="2896024"/>
            <a:ext cx="14948465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8"/>
              </a:lnSpc>
            </a:pPr>
            <a:r>
              <a:rPr lang="en-US" sz="3015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La accesibilidad no se incorpora al final del desarrollo: en Nexo360 se considera un criterio transversal desde el levantamiento de requerimientos hasta la validación con usuarios.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8700" y="1201193"/>
            <a:ext cx="4087517" cy="570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3315">
                <a:solidFill>
                  <a:srgbClr val="F6077E"/>
                </a:solidFill>
                <a:latin typeface="Clear Sans"/>
                <a:ea typeface="Clear Sans"/>
                <a:cs typeface="Clear Sans"/>
                <a:sym typeface="Clear Sans"/>
              </a:rPr>
              <a:t>Accesibilidad Digital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30527" y="1146668"/>
            <a:ext cx="2391632" cy="2138"/>
          </a:xfrm>
          <a:prstGeom prst="line">
            <a:avLst/>
          </a:prstGeom>
          <a:ln w="47625" cap="flat">
            <a:solidFill>
              <a:srgbClr val="F607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1126909" y="392539"/>
            <a:ext cx="6597312" cy="1187516"/>
          </a:xfrm>
          <a:custGeom>
            <a:avLst/>
            <a:gdLst/>
            <a:ahLst/>
            <a:cxnLst/>
            <a:rect l="l" t="t" r="r" b="b"/>
            <a:pathLst>
              <a:path w="6597312" h="1187516">
                <a:moveTo>
                  <a:pt x="0" y="0"/>
                </a:moveTo>
                <a:lnTo>
                  <a:pt x="6597312" y="0"/>
                </a:lnTo>
                <a:lnTo>
                  <a:pt x="6597312" y="1187516"/>
                </a:lnTo>
                <a:lnTo>
                  <a:pt x="0" y="11875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90211" y="4829202"/>
            <a:ext cx="17438785" cy="3642371"/>
            <a:chOff x="0" y="0"/>
            <a:chExt cx="23251714" cy="4856495"/>
          </a:xfrm>
        </p:grpSpPr>
        <p:sp>
          <p:nvSpPr>
            <p:cNvPr id="5" name="AutoShape 5"/>
            <p:cNvSpPr/>
            <p:nvPr/>
          </p:nvSpPr>
          <p:spPr>
            <a:xfrm>
              <a:off x="8558911" y="142455"/>
              <a:ext cx="0" cy="4583283"/>
            </a:xfrm>
            <a:prstGeom prst="line">
              <a:avLst/>
            </a:prstGeom>
            <a:ln w="114300" cap="flat">
              <a:solidFill>
                <a:srgbClr val="F6077E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929056" y="-57150"/>
              <a:ext cx="5864671" cy="6677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55"/>
                </a:lnSpc>
              </a:pPr>
              <a:r>
                <a:rPr lang="en-US" sz="3039" b="1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Orientación poco clara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929056" y="895746"/>
              <a:ext cx="5248447" cy="39607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97"/>
                </a:lnSpc>
              </a:pPr>
              <a:r>
                <a:rPr lang="en-US" sz="285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Identificar qué gestión corresponde, qué requisitos exige y dónde realizarla puede generar confusión e incertidumbre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6899177" y="2262153"/>
              <a:ext cx="1285084" cy="1285084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F6077E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7024380" y="2380104"/>
              <a:ext cx="996724" cy="1049183"/>
            </a:xfrm>
            <a:custGeom>
              <a:avLst/>
              <a:gdLst/>
              <a:ahLst/>
              <a:cxnLst/>
              <a:rect l="l" t="t" r="r" b="b"/>
              <a:pathLst>
                <a:path w="996724" h="1049183">
                  <a:moveTo>
                    <a:pt x="0" y="0"/>
                  </a:moveTo>
                  <a:lnTo>
                    <a:pt x="996724" y="0"/>
                  </a:lnTo>
                  <a:lnTo>
                    <a:pt x="996724" y="1049183"/>
                  </a:lnTo>
                  <a:lnTo>
                    <a:pt x="0" y="1049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7217333" y="400250"/>
              <a:ext cx="1187046" cy="1111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041"/>
                </a:lnSpc>
              </a:pPr>
              <a:r>
                <a:rPr lang="en-US" sz="5029" b="1">
                  <a:solidFill>
                    <a:srgbClr val="F6077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02</a:t>
              </a:r>
            </a:p>
          </p:txBody>
        </p:sp>
        <p:sp>
          <p:nvSpPr>
            <p:cNvPr id="13" name="AutoShape 13"/>
            <p:cNvSpPr/>
            <p:nvPr/>
          </p:nvSpPr>
          <p:spPr>
            <a:xfrm>
              <a:off x="16431954" y="207834"/>
              <a:ext cx="0" cy="4583283"/>
            </a:xfrm>
            <a:prstGeom prst="line">
              <a:avLst/>
            </a:prstGeom>
            <a:ln w="114300" cap="flat">
              <a:solidFill>
                <a:srgbClr val="F6077E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6802099" y="8229"/>
              <a:ext cx="6445110" cy="6677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55"/>
                </a:lnSpc>
              </a:pPr>
              <a:r>
                <a:rPr lang="en-US" sz="3039" b="1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Barreras de accesibilidad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806604" y="961124"/>
              <a:ext cx="6445110" cy="32940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97"/>
                </a:lnSpc>
              </a:pPr>
              <a:r>
                <a:rPr lang="en-US" sz="285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La navegación y presentación de la información no siempre favorecen necesidades visuales, motoras o cognitivas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4936997" y="2327532"/>
              <a:ext cx="1285084" cy="1285084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F6077E"/>
                </a:solidFill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15266611" y="2461274"/>
              <a:ext cx="625824" cy="1017600"/>
            </a:xfrm>
            <a:custGeom>
              <a:avLst/>
              <a:gdLst/>
              <a:ahLst/>
              <a:cxnLst/>
              <a:rect l="l" t="t" r="r" b="b"/>
              <a:pathLst>
                <a:path w="625824" h="1017600">
                  <a:moveTo>
                    <a:pt x="0" y="0"/>
                  </a:moveTo>
                  <a:lnTo>
                    <a:pt x="625824" y="0"/>
                  </a:lnTo>
                  <a:lnTo>
                    <a:pt x="625824" y="1017600"/>
                  </a:lnTo>
                  <a:lnTo>
                    <a:pt x="0" y="10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14986000" y="400250"/>
              <a:ext cx="1187046" cy="1111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041"/>
                </a:lnSpc>
              </a:pPr>
              <a:r>
                <a:rPr lang="en-US" sz="5029" b="1">
                  <a:solidFill>
                    <a:srgbClr val="F6077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03</a:t>
              </a:r>
            </a:p>
          </p:txBody>
        </p:sp>
        <p:sp>
          <p:nvSpPr>
            <p:cNvPr id="21" name="AutoShape 21"/>
            <p:cNvSpPr/>
            <p:nvPr/>
          </p:nvSpPr>
          <p:spPr>
            <a:xfrm>
              <a:off x="1568183" y="142455"/>
              <a:ext cx="0" cy="4583283"/>
            </a:xfrm>
            <a:prstGeom prst="line">
              <a:avLst/>
            </a:prstGeom>
            <a:ln w="114300" cap="flat">
              <a:solidFill>
                <a:srgbClr val="F6077E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0" y="2262153"/>
              <a:ext cx="1285084" cy="1285084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F6077E"/>
                </a:solidFill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938329" y="-57150"/>
              <a:ext cx="5202125" cy="6677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55"/>
                </a:lnSpc>
              </a:pPr>
              <a:r>
                <a:rPr lang="en-US" sz="3039" b="1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Información dispersa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38329" y="895746"/>
              <a:ext cx="5202125" cy="39607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97"/>
                </a:lnSpc>
              </a:pPr>
              <a:r>
                <a:rPr lang="en-US" sz="285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Los trámites y servicios se encuentran distribuidos en distintos portales, plataformas y canales institucionales.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4730" y="400250"/>
              <a:ext cx="1187046" cy="1111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041"/>
                </a:lnSpc>
              </a:pPr>
              <a:r>
                <a:rPr lang="en-US" sz="5029" b="1">
                  <a:solidFill>
                    <a:srgbClr val="F6077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01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133955" y="2428248"/>
              <a:ext cx="1017174" cy="798482"/>
            </a:xfrm>
            <a:custGeom>
              <a:avLst/>
              <a:gdLst/>
              <a:ahLst/>
              <a:cxnLst/>
              <a:rect l="l" t="t" r="r" b="b"/>
              <a:pathLst>
                <a:path w="1017174" h="798482">
                  <a:moveTo>
                    <a:pt x="0" y="0"/>
                  </a:moveTo>
                  <a:lnTo>
                    <a:pt x="1017174" y="0"/>
                  </a:lnTo>
                  <a:lnTo>
                    <a:pt x="1017174" y="798481"/>
                  </a:lnTo>
                  <a:lnTo>
                    <a:pt x="0" y="798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1028700" y="1426304"/>
            <a:ext cx="15160415" cy="1422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32"/>
              </a:lnSpc>
            </a:pPr>
            <a:r>
              <a:rPr lang="en-US" sz="8380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Planteamiento del problema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8700" y="2953174"/>
            <a:ext cx="14948465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8"/>
              </a:lnSpc>
            </a:pPr>
            <a:r>
              <a:rPr lang="en-US" sz="3015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Los estudiantes PAEDIS de Duoc UC pueden enfrentar barreras al buscar información, comprender procedimientos y acceder a servicios digitales institucionales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1210718"/>
            <a:ext cx="9643252" cy="570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3315">
                <a:solidFill>
                  <a:srgbClr val="F6077E"/>
                </a:solidFill>
                <a:latin typeface="Clear Sans"/>
                <a:ea typeface="Clear Sans"/>
                <a:cs typeface="Clear Sans"/>
                <a:sym typeface="Clear Sans"/>
              </a:rPr>
              <a:t>Problema y oportunidad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123493" y="9258300"/>
            <a:ext cx="16041014" cy="849167"/>
            <a:chOff x="0" y="0"/>
            <a:chExt cx="4224794" cy="22364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224794" cy="223649"/>
            </a:xfrm>
            <a:custGeom>
              <a:avLst/>
              <a:gdLst/>
              <a:ahLst/>
              <a:cxnLst/>
              <a:rect l="l" t="t" r="r" b="b"/>
              <a:pathLst>
                <a:path w="4224794" h="223649">
                  <a:moveTo>
                    <a:pt x="16892" y="0"/>
                  </a:moveTo>
                  <a:lnTo>
                    <a:pt x="4207902" y="0"/>
                  </a:lnTo>
                  <a:cubicBezTo>
                    <a:pt x="4212382" y="0"/>
                    <a:pt x="4216679" y="1780"/>
                    <a:pt x="4219846" y="4948"/>
                  </a:cubicBezTo>
                  <a:cubicBezTo>
                    <a:pt x="4223014" y="8115"/>
                    <a:pt x="4224794" y="12412"/>
                    <a:pt x="4224794" y="16892"/>
                  </a:cubicBezTo>
                  <a:lnTo>
                    <a:pt x="4224794" y="206757"/>
                  </a:lnTo>
                  <a:cubicBezTo>
                    <a:pt x="4224794" y="211237"/>
                    <a:pt x="4223014" y="215534"/>
                    <a:pt x="4219846" y="218701"/>
                  </a:cubicBezTo>
                  <a:cubicBezTo>
                    <a:pt x="4216679" y="221869"/>
                    <a:pt x="4212382" y="223649"/>
                    <a:pt x="4207902" y="223649"/>
                  </a:cubicBezTo>
                  <a:lnTo>
                    <a:pt x="16892" y="223649"/>
                  </a:lnTo>
                  <a:cubicBezTo>
                    <a:pt x="12412" y="223649"/>
                    <a:pt x="8115" y="221869"/>
                    <a:pt x="4948" y="218701"/>
                  </a:cubicBezTo>
                  <a:cubicBezTo>
                    <a:pt x="1780" y="215534"/>
                    <a:pt x="0" y="211237"/>
                    <a:pt x="0" y="206757"/>
                  </a:cubicBezTo>
                  <a:lnTo>
                    <a:pt x="0" y="16892"/>
                  </a:lnTo>
                  <a:cubicBezTo>
                    <a:pt x="0" y="12412"/>
                    <a:pt x="1780" y="8115"/>
                    <a:pt x="4948" y="4948"/>
                  </a:cubicBezTo>
                  <a:cubicBezTo>
                    <a:pt x="8115" y="1780"/>
                    <a:pt x="12412" y="0"/>
                    <a:pt x="16892" y="0"/>
                  </a:cubicBezTo>
                  <a:close/>
                </a:path>
              </a:pathLst>
            </a:custGeom>
            <a:ln w="38100" cap="rnd">
              <a:solidFill>
                <a:srgbClr val="F6077E"/>
              </a:solidFill>
              <a:prstDash val="solid"/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4224794" cy="2617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1368196" y="9349023"/>
            <a:ext cx="652981" cy="652981"/>
          </a:xfrm>
          <a:custGeom>
            <a:avLst/>
            <a:gdLst/>
            <a:ahLst/>
            <a:cxnLst/>
            <a:rect l="l" t="t" r="r" b="b"/>
            <a:pathLst>
              <a:path w="652981" h="652981">
                <a:moveTo>
                  <a:pt x="0" y="0"/>
                </a:moveTo>
                <a:lnTo>
                  <a:pt x="652981" y="0"/>
                </a:lnTo>
                <a:lnTo>
                  <a:pt x="652981" y="652981"/>
                </a:lnTo>
                <a:lnTo>
                  <a:pt x="0" y="6529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2216042" y="9410700"/>
            <a:ext cx="14948465" cy="563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3315" b="1" dirty="0" err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Esto</a:t>
            </a:r>
            <a:r>
              <a:rPr lang="en-US" sz="3315" b="1" dirty="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3315" b="1" dirty="0" err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afecta</a:t>
            </a:r>
            <a:r>
              <a:rPr lang="en-US" sz="3315" b="1" dirty="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la </a:t>
            </a:r>
            <a:r>
              <a:rPr lang="en-US" sz="3315" b="1" dirty="0" err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autonomía</a:t>
            </a:r>
            <a:r>
              <a:rPr lang="en-US" sz="3315" b="1" dirty="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y </a:t>
            </a:r>
            <a:r>
              <a:rPr lang="en-US" sz="3315" b="1" dirty="0" err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experiencia</a:t>
            </a:r>
            <a:r>
              <a:rPr lang="en-US" sz="3315" b="1" dirty="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3315" b="1" dirty="0" err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académica</a:t>
            </a:r>
            <a:r>
              <a:rPr lang="en-US" sz="3315" b="1" dirty="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digital de los </a:t>
            </a:r>
            <a:r>
              <a:rPr lang="en-US" sz="3315" b="1" dirty="0" err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estudiantes</a:t>
            </a:r>
            <a:endParaRPr lang="en-US" sz="3315" b="1" dirty="0">
              <a:solidFill>
                <a:srgbClr val="FFFFFF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30527" y="1146668"/>
            <a:ext cx="2391632" cy="2138"/>
          </a:xfrm>
          <a:prstGeom prst="line">
            <a:avLst/>
          </a:prstGeom>
          <a:ln w="47625" cap="flat">
            <a:solidFill>
              <a:srgbClr val="F607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1126909" y="392539"/>
            <a:ext cx="6597312" cy="1187516"/>
          </a:xfrm>
          <a:custGeom>
            <a:avLst/>
            <a:gdLst/>
            <a:ahLst/>
            <a:cxnLst/>
            <a:rect l="l" t="t" r="r" b="b"/>
            <a:pathLst>
              <a:path w="6597312" h="1187516">
                <a:moveTo>
                  <a:pt x="0" y="0"/>
                </a:moveTo>
                <a:lnTo>
                  <a:pt x="6597312" y="0"/>
                </a:lnTo>
                <a:lnTo>
                  <a:pt x="6597312" y="1187516"/>
                </a:lnTo>
                <a:lnTo>
                  <a:pt x="0" y="11875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1094874" y="4720209"/>
            <a:ext cx="0" cy="1877113"/>
          </a:xfrm>
          <a:prstGeom prst="line">
            <a:avLst/>
          </a:prstGeom>
          <a:ln w="85725" cap="flat">
            <a:solidFill>
              <a:srgbClr val="F607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154155" y="9013108"/>
            <a:ext cx="901385" cy="901385"/>
          </a:xfrm>
          <a:custGeom>
            <a:avLst/>
            <a:gdLst/>
            <a:ahLst/>
            <a:cxnLst/>
            <a:rect l="l" t="t" r="r" b="b"/>
            <a:pathLst>
              <a:path w="901385" h="901385">
                <a:moveTo>
                  <a:pt x="0" y="0"/>
                </a:moveTo>
                <a:lnTo>
                  <a:pt x="901385" y="0"/>
                </a:lnTo>
                <a:lnTo>
                  <a:pt x="901385" y="901385"/>
                </a:lnTo>
                <a:lnTo>
                  <a:pt x="0" y="9013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332517" y="8946433"/>
            <a:ext cx="14948465" cy="1144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3315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Nexo360 no reemplaza los sistemas institucionales: los articula y orienta desde una experiencia más clara y accesible.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07018" y="8908367"/>
            <a:ext cx="15811500" cy="1292908"/>
            <a:chOff x="0" y="0"/>
            <a:chExt cx="4164346" cy="3405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64346" cy="340519"/>
            </a:xfrm>
            <a:custGeom>
              <a:avLst/>
              <a:gdLst/>
              <a:ahLst/>
              <a:cxnLst/>
              <a:rect l="l" t="t" r="r" b="b"/>
              <a:pathLst>
                <a:path w="4164346" h="340519">
                  <a:moveTo>
                    <a:pt x="17137" y="0"/>
                  </a:moveTo>
                  <a:lnTo>
                    <a:pt x="4147208" y="0"/>
                  </a:lnTo>
                  <a:cubicBezTo>
                    <a:pt x="4151754" y="0"/>
                    <a:pt x="4156113" y="1806"/>
                    <a:pt x="4159326" y="5019"/>
                  </a:cubicBezTo>
                  <a:cubicBezTo>
                    <a:pt x="4162540" y="8233"/>
                    <a:pt x="4164346" y="12592"/>
                    <a:pt x="4164346" y="17137"/>
                  </a:cubicBezTo>
                  <a:lnTo>
                    <a:pt x="4164346" y="323382"/>
                  </a:lnTo>
                  <a:cubicBezTo>
                    <a:pt x="4164346" y="332846"/>
                    <a:pt x="4156673" y="340519"/>
                    <a:pt x="4147208" y="340519"/>
                  </a:cubicBezTo>
                  <a:lnTo>
                    <a:pt x="17137" y="340519"/>
                  </a:lnTo>
                  <a:cubicBezTo>
                    <a:pt x="7673" y="340519"/>
                    <a:pt x="0" y="332846"/>
                    <a:pt x="0" y="323382"/>
                  </a:cubicBezTo>
                  <a:lnTo>
                    <a:pt x="0" y="17137"/>
                  </a:lnTo>
                  <a:cubicBezTo>
                    <a:pt x="0" y="12592"/>
                    <a:pt x="1806" y="8233"/>
                    <a:pt x="5019" y="5019"/>
                  </a:cubicBezTo>
                  <a:cubicBezTo>
                    <a:pt x="8233" y="1806"/>
                    <a:pt x="12592" y="0"/>
                    <a:pt x="17137" y="0"/>
                  </a:cubicBezTo>
                  <a:close/>
                </a:path>
              </a:pathLst>
            </a:custGeom>
            <a:ln w="38100" cap="rnd">
              <a:solidFill>
                <a:srgbClr val="F6077E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164346" cy="3786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9848169" y="4720209"/>
            <a:ext cx="0" cy="1877113"/>
          </a:xfrm>
          <a:prstGeom prst="line">
            <a:avLst/>
          </a:prstGeom>
          <a:ln w="85725" cap="flat">
            <a:solidFill>
              <a:srgbClr val="F607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098023" y="6926480"/>
            <a:ext cx="0" cy="1877113"/>
          </a:xfrm>
          <a:prstGeom prst="line">
            <a:avLst/>
          </a:prstGeom>
          <a:ln w="85725" cap="flat">
            <a:solidFill>
              <a:srgbClr val="F607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9846587" y="6926480"/>
            <a:ext cx="0" cy="1877113"/>
          </a:xfrm>
          <a:prstGeom prst="line">
            <a:avLst/>
          </a:prstGeom>
          <a:ln w="85725" cap="flat">
            <a:solidFill>
              <a:srgbClr val="F607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>
            <a:off x="10116821" y="5143482"/>
            <a:ext cx="1010088" cy="1063250"/>
          </a:xfrm>
          <a:custGeom>
            <a:avLst/>
            <a:gdLst/>
            <a:ahLst/>
            <a:cxnLst/>
            <a:rect l="l" t="t" r="r" b="b"/>
            <a:pathLst>
              <a:path w="1010088" h="1063250">
                <a:moveTo>
                  <a:pt x="0" y="0"/>
                </a:moveTo>
                <a:lnTo>
                  <a:pt x="1010088" y="0"/>
                </a:lnTo>
                <a:lnTo>
                  <a:pt x="1010088" y="1063250"/>
                </a:lnTo>
                <a:lnTo>
                  <a:pt x="0" y="10632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51230" y="5143482"/>
            <a:ext cx="916322" cy="751384"/>
          </a:xfrm>
          <a:custGeom>
            <a:avLst/>
            <a:gdLst/>
            <a:ahLst/>
            <a:cxnLst/>
            <a:rect l="l" t="t" r="r" b="b"/>
            <a:pathLst>
              <a:path w="916322" h="751384">
                <a:moveTo>
                  <a:pt x="0" y="0"/>
                </a:moveTo>
                <a:lnTo>
                  <a:pt x="916321" y="0"/>
                </a:lnTo>
                <a:lnTo>
                  <a:pt x="916321" y="751383"/>
                </a:lnTo>
                <a:lnTo>
                  <a:pt x="0" y="7513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20387" y="7258495"/>
            <a:ext cx="978007" cy="1018757"/>
          </a:xfrm>
          <a:custGeom>
            <a:avLst/>
            <a:gdLst/>
            <a:ahLst/>
            <a:cxnLst/>
            <a:rect l="l" t="t" r="r" b="b"/>
            <a:pathLst>
              <a:path w="978007" h="1018757">
                <a:moveTo>
                  <a:pt x="0" y="0"/>
                </a:moveTo>
                <a:lnTo>
                  <a:pt x="978007" y="0"/>
                </a:lnTo>
                <a:lnTo>
                  <a:pt x="978007" y="1018757"/>
                </a:lnTo>
                <a:lnTo>
                  <a:pt x="0" y="10187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032325" y="7113290"/>
            <a:ext cx="1309167" cy="1309167"/>
          </a:xfrm>
          <a:custGeom>
            <a:avLst/>
            <a:gdLst/>
            <a:ahLst/>
            <a:cxnLst/>
            <a:rect l="l" t="t" r="r" b="b"/>
            <a:pathLst>
              <a:path w="1309167" h="1309167">
                <a:moveTo>
                  <a:pt x="0" y="0"/>
                </a:moveTo>
                <a:lnTo>
                  <a:pt x="1309167" y="0"/>
                </a:lnTo>
                <a:lnTo>
                  <a:pt x="1309167" y="1309167"/>
                </a:lnTo>
                <a:lnTo>
                  <a:pt x="0" y="13091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312256" y="4552497"/>
            <a:ext cx="5561446" cy="499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3"/>
              </a:lnSpc>
            </a:pPr>
            <a:r>
              <a:rPr lang="en-US" sz="2874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Centraliza información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81044" y="5095857"/>
            <a:ext cx="6327863" cy="1397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Reúne en un solo entorno los principales trámites, servicios y puntos de acceso utilizados por estudiantes PAEDIS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1426304"/>
            <a:ext cx="15160415" cy="1422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32"/>
              </a:lnSpc>
            </a:pPr>
            <a:r>
              <a:rPr lang="en-US" sz="8380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Nuestra propuesta: Nexo360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2896024"/>
            <a:ext cx="15378586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8"/>
              </a:lnSpc>
            </a:pPr>
            <a:r>
              <a:rPr lang="en-US" sz="3015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Nexo360 es una plataforma web accesible que reúne información, orientación y acceso a trámites y servicios digitales de Duoc UC, para facilitar la autonomía de estudiantes PAEDIS durante su experiencia académica digital.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1210718"/>
            <a:ext cx="9643252" cy="570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3315">
                <a:solidFill>
                  <a:srgbClr val="F6077E"/>
                </a:solidFill>
                <a:latin typeface="Clear Sans"/>
                <a:ea typeface="Clear Sans"/>
                <a:cs typeface="Clear Sans"/>
                <a:sym typeface="Clear Sans"/>
              </a:rPr>
              <a:t>Solución propuesta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27570" y="4552497"/>
            <a:ext cx="5561446" cy="499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3"/>
              </a:lnSpc>
            </a:pPr>
            <a:r>
              <a:rPr lang="en-US" sz="2874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Orienta paso a paso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96358" y="5095857"/>
            <a:ext cx="6327863" cy="1397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Explica de forma clara el propósito, requisitos y pasos necesarios para realizar cada gestión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345335" y="6758767"/>
            <a:ext cx="6195656" cy="499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3"/>
              </a:lnSpc>
            </a:pPr>
            <a:r>
              <a:rPr lang="en-US" sz="2874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Facilita el acceso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310565" y="7302127"/>
            <a:ext cx="7049474" cy="1397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Dirige al estudiante a la plataforma o servicio institucional correspondiente sin obligarlo a comenzar la búsqueda nuevamente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25988" y="6758767"/>
            <a:ext cx="5561446" cy="499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3"/>
              </a:lnSpc>
            </a:pPr>
            <a:r>
              <a:rPr lang="en-US" sz="2874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Diseñado para la accesibilidad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94777" y="7302127"/>
            <a:ext cx="6327863" cy="1397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Presenta navegación, contenidos e interacción considerando necesidades visuales, motoras y cognitivas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30527" y="1146668"/>
            <a:ext cx="2391632" cy="2138"/>
          </a:xfrm>
          <a:prstGeom prst="line">
            <a:avLst/>
          </a:prstGeom>
          <a:ln w="47625" cap="flat">
            <a:solidFill>
              <a:srgbClr val="F607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1126909" y="392539"/>
            <a:ext cx="6597312" cy="1187516"/>
          </a:xfrm>
          <a:custGeom>
            <a:avLst/>
            <a:gdLst/>
            <a:ahLst/>
            <a:cxnLst/>
            <a:rect l="l" t="t" r="r" b="b"/>
            <a:pathLst>
              <a:path w="6597312" h="1187516">
                <a:moveTo>
                  <a:pt x="0" y="0"/>
                </a:moveTo>
                <a:lnTo>
                  <a:pt x="6597312" y="0"/>
                </a:lnTo>
                <a:lnTo>
                  <a:pt x="6597312" y="1187516"/>
                </a:lnTo>
                <a:lnTo>
                  <a:pt x="0" y="11875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676783" y="5102003"/>
            <a:ext cx="5620944" cy="1204914"/>
            <a:chOff x="0" y="0"/>
            <a:chExt cx="7494592" cy="1606552"/>
          </a:xfrm>
        </p:grpSpPr>
        <p:sp>
          <p:nvSpPr>
            <p:cNvPr id="5" name="TextBox 5"/>
            <p:cNvSpPr txBox="1"/>
            <p:nvPr/>
          </p:nvSpPr>
          <p:spPr>
            <a:xfrm>
              <a:off x="35778" y="-47625"/>
              <a:ext cx="6375235" cy="5440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59"/>
                </a:lnSpc>
              </a:pPr>
              <a:r>
                <a:rPr lang="en-US" sz="2471" b="1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Necesidad real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53405"/>
              <a:ext cx="7494592" cy="10531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49"/>
                </a:lnSpc>
              </a:pPr>
              <a:r>
                <a:rPr lang="en-US" sz="2321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Responde a barreras que afectan la orientación digital de estudiantes PAEDIS.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881240" y="4474141"/>
            <a:ext cx="8016784" cy="4561084"/>
            <a:chOff x="0" y="0"/>
            <a:chExt cx="2111416" cy="12012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11416" cy="1201273"/>
            </a:xfrm>
            <a:custGeom>
              <a:avLst/>
              <a:gdLst/>
              <a:ahLst/>
              <a:cxnLst/>
              <a:rect l="l" t="t" r="r" b="b"/>
              <a:pathLst>
                <a:path w="2111416" h="1201273">
                  <a:moveTo>
                    <a:pt x="33800" y="0"/>
                  </a:moveTo>
                  <a:lnTo>
                    <a:pt x="2077616" y="0"/>
                  </a:lnTo>
                  <a:cubicBezTo>
                    <a:pt x="2096284" y="0"/>
                    <a:pt x="2111416" y="15133"/>
                    <a:pt x="2111416" y="33800"/>
                  </a:cubicBezTo>
                  <a:lnTo>
                    <a:pt x="2111416" y="1167473"/>
                  </a:lnTo>
                  <a:cubicBezTo>
                    <a:pt x="2111416" y="1186140"/>
                    <a:pt x="2096284" y="1201273"/>
                    <a:pt x="2077616" y="1201273"/>
                  </a:cubicBezTo>
                  <a:lnTo>
                    <a:pt x="33800" y="1201273"/>
                  </a:lnTo>
                  <a:cubicBezTo>
                    <a:pt x="24836" y="1201273"/>
                    <a:pt x="16239" y="1197712"/>
                    <a:pt x="9900" y="1191373"/>
                  </a:cubicBezTo>
                  <a:cubicBezTo>
                    <a:pt x="3561" y="1185035"/>
                    <a:pt x="0" y="1176437"/>
                    <a:pt x="0" y="1167473"/>
                  </a:cubicBezTo>
                  <a:lnTo>
                    <a:pt x="0" y="33800"/>
                  </a:lnTo>
                  <a:cubicBezTo>
                    <a:pt x="0" y="15133"/>
                    <a:pt x="15133" y="0"/>
                    <a:pt x="33800" y="0"/>
                  </a:cubicBezTo>
                  <a:close/>
                </a:path>
              </a:pathLst>
            </a:custGeom>
            <a:ln w="38100" cap="rnd">
              <a:solidFill>
                <a:srgbClr val="F6077E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2111416" cy="12298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88824" y="9184592"/>
            <a:ext cx="15710352" cy="1007912"/>
            <a:chOff x="0" y="0"/>
            <a:chExt cx="4137706" cy="26545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37706" cy="265458"/>
            </a:xfrm>
            <a:custGeom>
              <a:avLst/>
              <a:gdLst/>
              <a:ahLst/>
              <a:cxnLst/>
              <a:rect l="l" t="t" r="r" b="b"/>
              <a:pathLst>
                <a:path w="4137706" h="265458">
                  <a:moveTo>
                    <a:pt x="17248" y="0"/>
                  </a:moveTo>
                  <a:lnTo>
                    <a:pt x="4120458" y="0"/>
                  </a:lnTo>
                  <a:cubicBezTo>
                    <a:pt x="4129984" y="0"/>
                    <a:pt x="4137706" y="7722"/>
                    <a:pt x="4137706" y="17248"/>
                  </a:cubicBezTo>
                  <a:lnTo>
                    <a:pt x="4137706" y="248211"/>
                  </a:lnTo>
                  <a:cubicBezTo>
                    <a:pt x="4137706" y="252785"/>
                    <a:pt x="4135889" y="257172"/>
                    <a:pt x="4132654" y="260407"/>
                  </a:cubicBezTo>
                  <a:cubicBezTo>
                    <a:pt x="4129420" y="263641"/>
                    <a:pt x="4125033" y="265458"/>
                    <a:pt x="4120458" y="265458"/>
                  </a:cubicBezTo>
                  <a:lnTo>
                    <a:pt x="17248" y="265458"/>
                  </a:lnTo>
                  <a:cubicBezTo>
                    <a:pt x="12673" y="265458"/>
                    <a:pt x="8286" y="263641"/>
                    <a:pt x="5052" y="260407"/>
                  </a:cubicBezTo>
                  <a:cubicBezTo>
                    <a:pt x="1817" y="257172"/>
                    <a:pt x="0" y="252785"/>
                    <a:pt x="0" y="248211"/>
                  </a:cubicBezTo>
                  <a:lnTo>
                    <a:pt x="0" y="17248"/>
                  </a:lnTo>
                  <a:cubicBezTo>
                    <a:pt x="0" y="12673"/>
                    <a:pt x="1817" y="8286"/>
                    <a:pt x="5052" y="5052"/>
                  </a:cubicBezTo>
                  <a:cubicBezTo>
                    <a:pt x="8286" y="1817"/>
                    <a:pt x="12673" y="0"/>
                    <a:pt x="17248" y="0"/>
                  </a:cubicBezTo>
                  <a:close/>
                </a:path>
              </a:pathLst>
            </a:custGeom>
            <a:ln w="38100" cap="rnd">
              <a:solidFill>
                <a:srgbClr val="F6077E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4137706" cy="294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545491" y="9279842"/>
            <a:ext cx="800790" cy="800790"/>
          </a:xfrm>
          <a:custGeom>
            <a:avLst/>
            <a:gdLst/>
            <a:ahLst/>
            <a:cxnLst/>
            <a:rect l="l" t="t" r="r" b="b"/>
            <a:pathLst>
              <a:path w="800790" h="800790">
                <a:moveTo>
                  <a:pt x="0" y="0"/>
                </a:moveTo>
                <a:lnTo>
                  <a:pt x="800789" y="0"/>
                </a:lnTo>
                <a:lnTo>
                  <a:pt x="800789" y="800790"/>
                </a:lnTo>
                <a:lnTo>
                  <a:pt x="0" y="8007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269774" y="4474141"/>
            <a:ext cx="7306667" cy="4561084"/>
            <a:chOff x="0" y="0"/>
            <a:chExt cx="1924390" cy="120127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24390" cy="1201273"/>
            </a:xfrm>
            <a:custGeom>
              <a:avLst/>
              <a:gdLst/>
              <a:ahLst/>
              <a:cxnLst/>
              <a:rect l="l" t="t" r="r" b="b"/>
              <a:pathLst>
                <a:path w="1924390" h="1201273">
                  <a:moveTo>
                    <a:pt x="37085" y="0"/>
                  </a:moveTo>
                  <a:lnTo>
                    <a:pt x="1887305" y="0"/>
                  </a:lnTo>
                  <a:cubicBezTo>
                    <a:pt x="1897140" y="0"/>
                    <a:pt x="1906573" y="3907"/>
                    <a:pt x="1913528" y="10862"/>
                  </a:cubicBezTo>
                  <a:cubicBezTo>
                    <a:pt x="1920482" y="17817"/>
                    <a:pt x="1924390" y="27249"/>
                    <a:pt x="1924390" y="37085"/>
                  </a:cubicBezTo>
                  <a:lnTo>
                    <a:pt x="1924390" y="1164188"/>
                  </a:lnTo>
                  <a:cubicBezTo>
                    <a:pt x="1924390" y="1184670"/>
                    <a:pt x="1907786" y="1201273"/>
                    <a:pt x="1887305" y="1201273"/>
                  </a:cubicBezTo>
                  <a:lnTo>
                    <a:pt x="37085" y="1201273"/>
                  </a:lnTo>
                  <a:cubicBezTo>
                    <a:pt x="27249" y="1201273"/>
                    <a:pt x="17817" y="1197366"/>
                    <a:pt x="10862" y="1190411"/>
                  </a:cubicBezTo>
                  <a:cubicBezTo>
                    <a:pt x="3907" y="1183456"/>
                    <a:pt x="0" y="1174024"/>
                    <a:pt x="0" y="1164188"/>
                  </a:cubicBezTo>
                  <a:lnTo>
                    <a:pt x="0" y="37085"/>
                  </a:lnTo>
                  <a:cubicBezTo>
                    <a:pt x="0" y="27249"/>
                    <a:pt x="3907" y="17817"/>
                    <a:pt x="10862" y="10862"/>
                  </a:cubicBezTo>
                  <a:cubicBezTo>
                    <a:pt x="17817" y="3907"/>
                    <a:pt x="27249" y="0"/>
                    <a:pt x="37085" y="0"/>
                  </a:cubicBezTo>
                  <a:close/>
                </a:path>
              </a:pathLst>
            </a:custGeom>
            <a:ln w="38100" cap="rnd">
              <a:solidFill>
                <a:srgbClr val="F6077E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924390" cy="12298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18419" y="5398541"/>
            <a:ext cx="791663" cy="791663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6077E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18419" y="6593534"/>
            <a:ext cx="791663" cy="791663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6077E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18419" y="7788526"/>
            <a:ext cx="791663" cy="791663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6077E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701945" y="5493559"/>
            <a:ext cx="624612" cy="624612"/>
          </a:xfrm>
          <a:custGeom>
            <a:avLst/>
            <a:gdLst/>
            <a:ahLst/>
            <a:cxnLst/>
            <a:rect l="l" t="t" r="r" b="b"/>
            <a:pathLst>
              <a:path w="624612" h="624612">
                <a:moveTo>
                  <a:pt x="0" y="0"/>
                </a:moveTo>
                <a:lnTo>
                  <a:pt x="624612" y="0"/>
                </a:lnTo>
                <a:lnTo>
                  <a:pt x="624612" y="624611"/>
                </a:lnTo>
                <a:lnTo>
                  <a:pt x="0" y="6246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64407" y="6772839"/>
            <a:ext cx="466370" cy="466370"/>
          </a:xfrm>
          <a:custGeom>
            <a:avLst/>
            <a:gdLst/>
            <a:ahLst/>
            <a:cxnLst/>
            <a:rect l="l" t="t" r="r" b="b"/>
            <a:pathLst>
              <a:path w="466370" h="466370">
                <a:moveTo>
                  <a:pt x="0" y="0"/>
                </a:moveTo>
                <a:lnTo>
                  <a:pt x="466371" y="0"/>
                </a:lnTo>
                <a:lnTo>
                  <a:pt x="466371" y="466370"/>
                </a:lnTo>
                <a:lnTo>
                  <a:pt x="0" y="4663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692294" y="7861447"/>
            <a:ext cx="580961" cy="580961"/>
          </a:xfrm>
          <a:custGeom>
            <a:avLst/>
            <a:gdLst/>
            <a:ahLst/>
            <a:cxnLst/>
            <a:rect l="l" t="t" r="r" b="b"/>
            <a:pathLst>
              <a:path w="580961" h="580961">
                <a:moveTo>
                  <a:pt x="0" y="0"/>
                </a:moveTo>
                <a:lnTo>
                  <a:pt x="580961" y="0"/>
                </a:lnTo>
                <a:lnTo>
                  <a:pt x="580961" y="580961"/>
                </a:lnTo>
                <a:lnTo>
                  <a:pt x="0" y="5809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9401774" y="5218370"/>
            <a:ext cx="387289" cy="537901"/>
          </a:xfrm>
          <a:custGeom>
            <a:avLst/>
            <a:gdLst/>
            <a:ahLst/>
            <a:cxnLst/>
            <a:rect l="l" t="t" r="r" b="b"/>
            <a:pathLst>
              <a:path w="387289" h="537901">
                <a:moveTo>
                  <a:pt x="0" y="0"/>
                </a:moveTo>
                <a:lnTo>
                  <a:pt x="387289" y="0"/>
                </a:lnTo>
                <a:lnTo>
                  <a:pt x="387289" y="537901"/>
                </a:lnTo>
                <a:lnTo>
                  <a:pt x="0" y="5379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9245874" y="6089872"/>
            <a:ext cx="709383" cy="503662"/>
          </a:xfrm>
          <a:custGeom>
            <a:avLst/>
            <a:gdLst/>
            <a:ahLst/>
            <a:cxnLst/>
            <a:rect l="l" t="t" r="r" b="b"/>
            <a:pathLst>
              <a:path w="709383" h="503662">
                <a:moveTo>
                  <a:pt x="0" y="0"/>
                </a:moveTo>
                <a:lnTo>
                  <a:pt x="709382" y="0"/>
                </a:lnTo>
                <a:lnTo>
                  <a:pt x="709382" y="503662"/>
                </a:lnTo>
                <a:lnTo>
                  <a:pt x="0" y="503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9401774" y="6772839"/>
            <a:ext cx="462775" cy="554222"/>
          </a:xfrm>
          <a:custGeom>
            <a:avLst/>
            <a:gdLst/>
            <a:ahLst/>
            <a:cxnLst/>
            <a:rect l="l" t="t" r="r" b="b"/>
            <a:pathLst>
              <a:path w="462775" h="554222">
                <a:moveTo>
                  <a:pt x="0" y="0"/>
                </a:moveTo>
                <a:lnTo>
                  <a:pt x="462776" y="0"/>
                </a:lnTo>
                <a:lnTo>
                  <a:pt x="462776" y="554222"/>
                </a:lnTo>
                <a:lnTo>
                  <a:pt x="0" y="55422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9371428" y="7508036"/>
            <a:ext cx="493121" cy="601367"/>
          </a:xfrm>
          <a:custGeom>
            <a:avLst/>
            <a:gdLst/>
            <a:ahLst/>
            <a:cxnLst/>
            <a:rect l="l" t="t" r="r" b="b"/>
            <a:pathLst>
              <a:path w="493121" h="601367">
                <a:moveTo>
                  <a:pt x="0" y="0"/>
                </a:moveTo>
                <a:lnTo>
                  <a:pt x="493122" y="0"/>
                </a:lnTo>
                <a:lnTo>
                  <a:pt x="493122" y="601367"/>
                </a:lnTo>
                <a:lnTo>
                  <a:pt x="0" y="60136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9189873" y="8309428"/>
            <a:ext cx="821384" cy="394264"/>
          </a:xfrm>
          <a:custGeom>
            <a:avLst/>
            <a:gdLst/>
            <a:ahLst/>
            <a:cxnLst/>
            <a:rect l="l" t="t" r="r" b="b"/>
            <a:pathLst>
              <a:path w="821384" h="394264">
                <a:moveTo>
                  <a:pt x="0" y="0"/>
                </a:moveTo>
                <a:lnTo>
                  <a:pt x="821384" y="0"/>
                </a:lnTo>
                <a:lnTo>
                  <a:pt x="821384" y="394265"/>
                </a:lnTo>
                <a:lnTo>
                  <a:pt x="0" y="39426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028700" y="1426304"/>
            <a:ext cx="15160415" cy="1422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32"/>
              </a:lnSpc>
            </a:pPr>
            <a:r>
              <a:rPr lang="en-US" sz="8380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Relevancia y perfil de egreso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8700" y="2896024"/>
            <a:ext cx="16230600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8"/>
              </a:lnSpc>
            </a:pPr>
            <a:r>
              <a:rPr lang="en-US" sz="3015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Nexo 360 aborda una necesidad real del entorno educativo y, al mismo tiempo, permite aplicar competencias clave de ingeniería en informática en una solución digital accesible y centrada en las personas.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28700" y="1210718"/>
            <a:ext cx="9643252" cy="570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3315">
                <a:solidFill>
                  <a:srgbClr val="F6077E"/>
                </a:solidFill>
                <a:latin typeface="Clear Sans"/>
                <a:ea typeface="Clear Sans"/>
                <a:cs typeface="Clear Sans"/>
                <a:sym typeface="Clear Sans"/>
              </a:rPr>
              <a:t>Relevancia y formación profesional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452898" y="9289333"/>
            <a:ext cx="14360527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8"/>
              </a:lnSpc>
            </a:pPr>
            <a:r>
              <a:rPr lang="en-US" sz="2715" b="1" dirty="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Nexo360 es </a:t>
            </a:r>
            <a:r>
              <a:rPr lang="en-US" sz="2715" b="1" dirty="0" err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pertinente</a:t>
            </a:r>
            <a:r>
              <a:rPr lang="en-US" sz="2715" b="1" dirty="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para </a:t>
            </a:r>
            <a:r>
              <a:rPr lang="en-US" sz="2715" b="1" dirty="0" err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Ingeniería</a:t>
            </a:r>
            <a:r>
              <a:rPr lang="en-US" sz="2715" b="1" dirty="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715" b="1" dirty="0" err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en</a:t>
            </a:r>
            <a:r>
              <a:rPr lang="en-US" sz="2715" b="1" dirty="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715" b="1" dirty="0" err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Informática</a:t>
            </a:r>
            <a:r>
              <a:rPr lang="en-US" sz="2715" b="1" dirty="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715" b="1" dirty="0" err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porque</a:t>
            </a:r>
            <a:r>
              <a:rPr lang="en-US" sz="2715" b="1" dirty="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integra </a:t>
            </a:r>
            <a:r>
              <a:rPr lang="en-US" sz="2715" b="1" dirty="0" err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análisis</a:t>
            </a:r>
            <a:r>
              <a:rPr lang="en-US" sz="2715" b="1" dirty="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, </a:t>
            </a:r>
            <a:r>
              <a:rPr lang="en-US" sz="2715" b="1" dirty="0" err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desarrollo</a:t>
            </a:r>
            <a:r>
              <a:rPr lang="en-US" sz="2715" b="1" dirty="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, </a:t>
            </a:r>
            <a:r>
              <a:rPr lang="en-US" sz="2715" b="1" dirty="0" err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accesibilidad</a:t>
            </a:r>
            <a:r>
              <a:rPr lang="en-US" sz="2715" b="1" dirty="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y </a:t>
            </a:r>
            <a:r>
              <a:rPr lang="en-US" sz="2715" b="1" dirty="0" err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gestión</a:t>
            </a:r>
            <a:r>
              <a:rPr lang="en-US" sz="2715" b="1" dirty="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715" b="1" dirty="0" err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en</a:t>
            </a:r>
            <a:r>
              <a:rPr lang="en-US" sz="2715" b="1" dirty="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una </a:t>
            </a:r>
            <a:r>
              <a:rPr lang="en-US" sz="2715" b="1" dirty="0" err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solución</a:t>
            </a:r>
            <a:r>
              <a:rPr lang="en-US" sz="2715" b="1" dirty="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con </a:t>
            </a:r>
            <a:r>
              <a:rPr lang="en-US" sz="2715" b="1" dirty="0" err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impacto</a:t>
            </a:r>
            <a:r>
              <a:rPr lang="en-US" sz="2715" b="1" dirty="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real.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2676783" y="6386908"/>
            <a:ext cx="5620944" cy="1204914"/>
            <a:chOff x="0" y="0"/>
            <a:chExt cx="7494592" cy="1606552"/>
          </a:xfrm>
        </p:grpSpPr>
        <p:sp>
          <p:nvSpPr>
            <p:cNvPr id="39" name="TextBox 39"/>
            <p:cNvSpPr txBox="1"/>
            <p:nvPr/>
          </p:nvSpPr>
          <p:spPr>
            <a:xfrm>
              <a:off x="35778" y="-47625"/>
              <a:ext cx="6375235" cy="5440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59"/>
                </a:lnSpc>
              </a:pPr>
              <a:r>
                <a:rPr lang="en-US" sz="2471" b="1" dirty="0" err="1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impacto</a:t>
              </a:r>
              <a:r>
                <a:rPr lang="en-US" sz="2471" b="1" dirty="0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 </a:t>
              </a:r>
              <a:r>
                <a:rPr lang="en-US" sz="2471" b="1" dirty="0" err="1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esperado</a:t>
              </a:r>
              <a:endParaRPr lang="en-US" sz="2471" b="1" dirty="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553405"/>
              <a:ext cx="7494592" cy="10531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49"/>
                </a:lnSpc>
              </a:pPr>
              <a:r>
                <a:rPr lang="en-US" sz="2321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Favorece autonomía, claridad y acceso a trámites y servicios institucionales.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676783" y="7671814"/>
            <a:ext cx="5918708" cy="1204914"/>
            <a:chOff x="0" y="0"/>
            <a:chExt cx="7891610" cy="1606552"/>
          </a:xfrm>
        </p:grpSpPr>
        <p:sp>
          <p:nvSpPr>
            <p:cNvPr id="42" name="TextBox 42"/>
            <p:cNvSpPr txBox="1"/>
            <p:nvPr/>
          </p:nvSpPr>
          <p:spPr>
            <a:xfrm>
              <a:off x="35778" y="-47625"/>
              <a:ext cx="6375235" cy="5440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59"/>
                </a:lnSpc>
              </a:pPr>
              <a:r>
                <a:rPr lang="en-US" sz="2471" b="1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Pertinencia disciplinar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553405"/>
              <a:ext cx="7891610" cy="10531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49"/>
                </a:lnSpc>
              </a:pPr>
              <a:r>
                <a:rPr lang="en-US" sz="2321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Convierte una problemática del entorno en una solución informática viable e inclusiva.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087560" y="5218370"/>
            <a:ext cx="6492623" cy="623204"/>
            <a:chOff x="0" y="0"/>
            <a:chExt cx="8656830" cy="830938"/>
          </a:xfrm>
        </p:grpSpPr>
        <p:sp>
          <p:nvSpPr>
            <p:cNvPr id="45" name="TextBox 45"/>
            <p:cNvSpPr txBox="1"/>
            <p:nvPr/>
          </p:nvSpPr>
          <p:spPr>
            <a:xfrm>
              <a:off x="32075" y="-38100"/>
              <a:ext cx="5715277" cy="4256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928" b="1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Requerimientos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431066"/>
              <a:ext cx="8656830" cy="3998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6"/>
                </a:lnSpc>
              </a:pPr>
              <a:r>
                <a:rPr lang="en-US" sz="1812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Levantamiento y análisis de necesidades de usuarios.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087560" y="5982532"/>
            <a:ext cx="6492623" cy="626748"/>
            <a:chOff x="0" y="0"/>
            <a:chExt cx="8656830" cy="835664"/>
          </a:xfrm>
        </p:grpSpPr>
        <p:sp>
          <p:nvSpPr>
            <p:cNvPr id="48" name="TextBox 48"/>
            <p:cNvSpPr txBox="1"/>
            <p:nvPr/>
          </p:nvSpPr>
          <p:spPr>
            <a:xfrm>
              <a:off x="32075" y="-38100"/>
              <a:ext cx="5715277" cy="4256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928" b="1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Desarrollo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469166"/>
              <a:ext cx="8656830" cy="366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74"/>
                </a:lnSpc>
              </a:pPr>
              <a:r>
                <a:rPr lang="en-US" sz="1812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Diseño e implementación de una plataforma web accesible.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087560" y="6750238"/>
            <a:ext cx="6492623" cy="549636"/>
            <a:chOff x="0" y="0"/>
            <a:chExt cx="8656830" cy="732848"/>
          </a:xfrm>
        </p:grpSpPr>
        <p:sp>
          <p:nvSpPr>
            <p:cNvPr id="51" name="TextBox 51"/>
            <p:cNvSpPr txBox="1"/>
            <p:nvPr/>
          </p:nvSpPr>
          <p:spPr>
            <a:xfrm>
              <a:off x="32075" y="-38100"/>
              <a:ext cx="5715277" cy="4256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928" b="1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Datos e información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366349"/>
              <a:ext cx="8656830" cy="366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74"/>
                </a:lnSpc>
              </a:pPr>
              <a:r>
                <a:rPr lang="en-US" sz="1812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Organización de trámites, servicios y contenidos digitales.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717645" y="4522241"/>
            <a:ext cx="5561446" cy="495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3"/>
              </a:lnSpc>
            </a:pPr>
            <a:r>
              <a:rPr lang="en-US" sz="2974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Relevancia del Proyecto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10087560" y="7440832"/>
            <a:ext cx="6492623" cy="589285"/>
            <a:chOff x="0" y="0"/>
            <a:chExt cx="8656830" cy="785714"/>
          </a:xfrm>
        </p:grpSpPr>
        <p:sp>
          <p:nvSpPr>
            <p:cNvPr id="55" name="TextBox 55"/>
            <p:cNvSpPr txBox="1"/>
            <p:nvPr/>
          </p:nvSpPr>
          <p:spPr>
            <a:xfrm>
              <a:off x="32075" y="-38100"/>
              <a:ext cx="5715277" cy="4256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928" b="1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Calidad y accesibilidad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469225"/>
              <a:ext cx="8656830" cy="3164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5"/>
                </a:lnSpc>
              </a:pPr>
              <a:r>
                <a:rPr lang="en-US" sz="1812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Aplicación de criterios de usabilidad, QA y accesibilidad digital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9820860" y="4522241"/>
            <a:ext cx="6137546" cy="495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3"/>
              </a:lnSpc>
            </a:pPr>
            <a:r>
              <a:rPr lang="en-US" sz="2974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Competencias del perfil de egreso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10087560" y="8171075"/>
            <a:ext cx="6492623" cy="589285"/>
            <a:chOff x="0" y="0"/>
            <a:chExt cx="8656830" cy="785714"/>
          </a:xfrm>
        </p:grpSpPr>
        <p:sp>
          <p:nvSpPr>
            <p:cNvPr id="59" name="TextBox 59"/>
            <p:cNvSpPr txBox="1"/>
            <p:nvPr/>
          </p:nvSpPr>
          <p:spPr>
            <a:xfrm>
              <a:off x="32075" y="-38100"/>
              <a:ext cx="5715277" cy="4256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928" b="1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Gestión de Proyectos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469225"/>
              <a:ext cx="8656830" cy="3164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5"/>
                </a:lnSpc>
              </a:pPr>
              <a:r>
                <a:rPr lang="en-US" sz="1812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Planificación, seguimiento y trabajo colaborativo del equipo.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30527" y="1146668"/>
            <a:ext cx="2391632" cy="2138"/>
          </a:xfrm>
          <a:prstGeom prst="line">
            <a:avLst/>
          </a:prstGeom>
          <a:ln w="47625" cap="flat">
            <a:solidFill>
              <a:srgbClr val="F607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1126909" y="392539"/>
            <a:ext cx="6597312" cy="1187516"/>
          </a:xfrm>
          <a:custGeom>
            <a:avLst/>
            <a:gdLst/>
            <a:ahLst/>
            <a:cxnLst/>
            <a:rect l="l" t="t" r="r" b="b"/>
            <a:pathLst>
              <a:path w="6597312" h="1187516">
                <a:moveTo>
                  <a:pt x="0" y="0"/>
                </a:moveTo>
                <a:lnTo>
                  <a:pt x="6597312" y="0"/>
                </a:lnTo>
                <a:lnTo>
                  <a:pt x="6597312" y="1187516"/>
                </a:lnTo>
                <a:lnTo>
                  <a:pt x="0" y="11875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288824" y="9184592"/>
            <a:ext cx="15710352" cy="1007912"/>
            <a:chOff x="0" y="0"/>
            <a:chExt cx="4137706" cy="2654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37706" cy="265458"/>
            </a:xfrm>
            <a:custGeom>
              <a:avLst/>
              <a:gdLst/>
              <a:ahLst/>
              <a:cxnLst/>
              <a:rect l="l" t="t" r="r" b="b"/>
              <a:pathLst>
                <a:path w="4137706" h="265458">
                  <a:moveTo>
                    <a:pt x="17248" y="0"/>
                  </a:moveTo>
                  <a:lnTo>
                    <a:pt x="4120458" y="0"/>
                  </a:lnTo>
                  <a:cubicBezTo>
                    <a:pt x="4129984" y="0"/>
                    <a:pt x="4137706" y="7722"/>
                    <a:pt x="4137706" y="17248"/>
                  </a:cubicBezTo>
                  <a:lnTo>
                    <a:pt x="4137706" y="248211"/>
                  </a:lnTo>
                  <a:cubicBezTo>
                    <a:pt x="4137706" y="252785"/>
                    <a:pt x="4135889" y="257172"/>
                    <a:pt x="4132654" y="260407"/>
                  </a:cubicBezTo>
                  <a:cubicBezTo>
                    <a:pt x="4129420" y="263641"/>
                    <a:pt x="4125033" y="265458"/>
                    <a:pt x="4120458" y="265458"/>
                  </a:cubicBezTo>
                  <a:lnTo>
                    <a:pt x="17248" y="265458"/>
                  </a:lnTo>
                  <a:cubicBezTo>
                    <a:pt x="12673" y="265458"/>
                    <a:pt x="8286" y="263641"/>
                    <a:pt x="5052" y="260407"/>
                  </a:cubicBezTo>
                  <a:cubicBezTo>
                    <a:pt x="1817" y="257172"/>
                    <a:pt x="0" y="252785"/>
                    <a:pt x="0" y="248211"/>
                  </a:cubicBezTo>
                  <a:lnTo>
                    <a:pt x="0" y="17248"/>
                  </a:lnTo>
                  <a:cubicBezTo>
                    <a:pt x="0" y="12673"/>
                    <a:pt x="1817" y="8286"/>
                    <a:pt x="5052" y="5052"/>
                  </a:cubicBezTo>
                  <a:cubicBezTo>
                    <a:pt x="8286" y="1817"/>
                    <a:pt x="12673" y="0"/>
                    <a:pt x="17248" y="0"/>
                  </a:cubicBezTo>
                  <a:close/>
                </a:path>
              </a:pathLst>
            </a:custGeom>
            <a:ln w="38100" cap="rnd">
              <a:solidFill>
                <a:srgbClr val="F6077E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4137706" cy="294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537378" y="9409314"/>
            <a:ext cx="915520" cy="558467"/>
          </a:xfrm>
          <a:custGeom>
            <a:avLst/>
            <a:gdLst/>
            <a:ahLst/>
            <a:cxnLst/>
            <a:rect l="l" t="t" r="r" b="b"/>
            <a:pathLst>
              <a:path w="915520" h="558467">
                <a:moveTo>
                  <a:pt x="0" y="0"/>
                </a:moveTo>
                <a:lnTo>
                  <a:pt x="915520" y="0"/>
                </a:lnTo>
                <a:lnTo>
                  <a:pt x="915520" y="558468"/>
                </a:lnTo>
                <a:lnTo>
                  <a:pt x="0" y="558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19446" y="4264506"/>
            <a:ext cx="769119" cy="878994"/>
          </a:xfrm>
          <a:custGeom>
            <a:avLst/>
            <a:gdLst/>
            <a:ahLst/>
            <a:cxnLst/>
            <a:rect l="l" t="t" r="r" b="b"/>
            <a:pathLst>
              <a:path w="769119" h="878994">
                <a:moveTo>
                  <a:pt x="0" y="0"/>
                </a:moveTo>
                <a:lnTo>
                  <a:pt x="769120" y="0"/>
                </a:lnTo>
                <a:lnTo>
                  <a:pt x="769120" y="878994"/>
                </a:lnTo>
                <a:lnTo>
                  <a:pt x="0" y="8789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772142" y="4038768"/>
            <a:ext cx="6238365" cy="4845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6"/>
              </a:lnSpc>
            </a:pPr>
            <a:r>
              <a:rPr lang="en-US" sz="2380" b="1" dirty="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Daniela Díaz Romero</a:t>
            </a:r>
          </a:p>
          <a:p>
            <a:pPr algn="l">
              <a:lnSpc>
                <a:spcPts val="2496"/>
              </a:lnSpc>
            </a:pPr>
            <a:r>
              <a:rPr lang="en-US" sz="2080" dirty="0">
                <a:solidFill>
                  <a:srgbClr val="F6077E"/>
                </a:solidFill>
                <a:latin typeface="Clear Sans"/>
                <a:ea typeface="Clear Sans"/>
                <a:cs typeface="Clear Sans"/>
                <a:sym typeface="Clear Sans"/>
              </a:rPr>
              <a:t>Product Owner - </a:t>
            </a:r>
            <a:r>
              <a:rPr lang="en-US" sz="2080" dirty="0" err="1">
                <a:solidFill>
                  <a:srgbClr val="F6077E"/>
                </a:solidFill>
                <a:latin typeface="Clear Sans"/>
                <a:ea typeface="Clear Sans"/>
                <a:cs typeface="Clear Sans"/>
                <a:sym typeface="Clear Sans"/>
              </a:rPr>
              <a:t>Gestión</a:t>
            </a:r>
            <a:r>
              <a:rPr lang="en-US" sz="2080" dirty="0">
                <a:solidFill>
                  <a:srgbClr val="F6077E"/>
                </a:solidFill>
                <a:latin typeface="Clear Sans"/>
                <a:ea typeface="Clear Sans"/>
                <a:cs typeface="Clear Sans"/>
                <a:sym typeface="Clear Sans"/>
              </a:rPr>
              <a:t> del </a:t>
            </a:r>
            <a:r>
              <a:rPr lang="en-US" sz="2080" dirty="0" err="1">
                <a:solidFill>
                  <a:srgbClr val="F6077E"/>
                </a:solidFill>
                <a:latin typeface="Clear Sans"/>
                <a:ea typeface="Clear Sans"/>
                <a:cs typeface="Clear Sans"/>
                <a:sym typeface="Clear Sans"/>
              </a:rPr>
              <a:t>proyecto</a:t>
            </a:r>
            <a:endParaRPr lang="en-US" sz="2080" dirty="0">
              <a:solidFill>
                <a:srgbClr val="F6077E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2496"/>
              </a:lnSpc>
            </a:pPr>
            <a:endParaRPr lang="en-US" sz="2080" dirty="0">
              <a:solidFill>
                <a:srgbClr val="F6077E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2496"/>
              </a:lnSpc>
            </a:pPr>
            <a:r>
              <a:rPr lang="en-US" sz="2080" b="1" dirty="0" err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Aporta</a:t>
            </a:r>
            <a:endParaRPr lang="en-US" sz="2080" b="1" dirty="0">
              <a:solidFill>
                <a:srgbClr val="FFFFFF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l">
              <a:lnSpc>
                <a:spcPts val="2496"/>
              </a:lnSpc>
            </a:pPr>
            <a:r>
              <a:rPr lang="es-CL" sz="2080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Ingeniería</a:t>
            </a:r>
            <a:r>
              <a:rPr lang="en-US" sz="2080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de </a:t>
            </a:r>
            <a:r>
              <a:rPr lang="en-US" sz="2080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requisitos</a:t>
            </a:r>
            <a:r>
              <a:rPr lang="en-US" sz="2080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2080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coordinación</a:t>
            </a:r>
            <a:r>
              <a:rPr lang="en-US" sz="2080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con</a:t>
            </a:r>
          </a:p>
          <a:p>
            <a:pPr algn="l">
              <a:lnSpc>
                <a:spcPts val="2496"/>
              </a:lnSpc>
            </a:pPr>
            <a:r>
              <a:rPr lang="en-US" sz="2080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usuarios</a:t>
            </a:r>
            <a:r>
              <a:rPr lang="en-US" sz="2080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2080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planificación</a:t>
            </a:r>
            <a:r>
              <a:rPr lang="en-US" sz="2080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y </a:t>
            </a:r>
            <a:r>
              <a:rPr lang="en-US" sz="2080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seguimiento</a:t>
            </a:r>
            <a:r>
              <a:rPr lang="en-US" sz="2080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del </a:t>
            </a:r>
            <a:r>
              <a:rPr lang="en-US" sz="2080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proyecto</a:t>
            </a:r>
            <a:r>
              <a:rPr lang="en-US" sz="2080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  <a:p>
            <a:pPr algn="l">
              <a:lnSpc>
                <a:spcPts val="2496"/>
              </a:lnSpc>
            </a:pPr>
            <a:endParaRPr lang="en-US" sz="2080" dirty="0">
              <a:solidFill>
                <a:srgbClr val="FFFFFF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2496"/>
              </a:lnSpc>
            </a:pPr>
            <a:r>
              <a:rPr lang="en-US" sz="2080" b="1" dirty="0" err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Interés</a:t>
            </a:r>
            <a:r>
              <a:rPr lang="en-US" sz="2080" b="1" dirty="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080" b="1" dirty="0" err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profesional</a:t>
            </a:r>
            <a:endParaRPr lang="en-US" sz="2080" b="1" dirty="0">
              <a:solidFill>
                <a:srgbClr val="FFFFFF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l">
              <a:lnSpc>
                <a:spcPts val="2496"/>
              </a:lnSpc>
            </a:pPr>
            <a:r>
              <a:rPr lang="en-US" sz="2080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Gestión</a:t>
            </a:r>
            <a:r>
              <a:rPr lang="en-US" sz="2080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de </a:t>
            </a:r>
            <a:r>
              <a:rPr lang="en-US" sz="2080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proyectos</a:t>
            </a:r>
            <a:r>
              <a:rPr lang="en-US" sz="2080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TI, </a:t>
            </a:r>
            <a:r>
              <a:rPr lang="en-US" sz="2080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levantamiento</a:t>
            </a:r>
            <a:r>
              <a:rPr lang="en-US" sz="2080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de</a:t>
            </a:r>
          </a:p>
          <a:p>
            <a:pPr algn="l">
              <a:lnSpc>
                <a:spcPts val="2496"/>
              </a:lnSpc>
            </a:pPr>
            <a:r>
              <a:rPr lang="en-US" sz="2080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requerimientos</a:t>
            </a:r>
            <a:r>
              <a:rPr lang="en-US" sz="2080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y </a:t>
            </a:r>
            <a:r>
              <a:rPr lang="en-US" sz="2080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soluciones</a:t>
            </a:r>
            <a:r>
              <a:rPr lang="en-US" sz="2080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080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centradas</a:t>
            </a:r>
            <a:r>
              <a:rPr lang="en-US" sz="2080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080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en</a:t>
            </a:r>
            <a:endParaRPr lang="en-US" sz="2080" dirty="0">
              <a:solidFill>
                <a:srgbClr val="FFFFFF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2496"/>
              </a:lnSpc>
            </a:pPr>
            <a:r>
              <a:rPr lang="en-US" sz="2080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las personas.</a:t>
            </a:r>
          </a:p>
          <a:p>
            <a:pPr algn="l">
              <a:lnSpc>
                <a:spcPts val="2496"/>
              </a:lnSpc>
            </a:pPr>
            <a:endParaRPr lang="en-US" sz="2080" dirty="0">
              <a:solidFill>
                <a:srgbClr val="FFFFFF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2496"/>
              </a:lnSpc>
            </a:pPr>
            <a:r>
              <a:rPr lang="en-US" sz="2080" b="1" dirty="0" err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Relación</a:t>
            </a:r>
            <a:r>
              <a:rPr lang="en-US" sz="2080" b="1" dirty="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con Nexo360</a:t>
            </a:r>
          </a:p>
          <a:p>
            <a:pPr algn="l">
              <a:lnSpc>
                <a:spcPts val="2496"/>
              </a:lnSpc>
            </a:pPr>
            <a:r>
              <a:rPr lang="en-US" sz="2080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Permite</a:t>
            </a:r>
            <a:r>
              <a:rPr lang="en-US" sz="2080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080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liderar</a:t>
            </a:r>
            <a:r>
              <a:rPr lang="en-US" sz="2080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una </a:t>
            </a:r>
            <a:r>
              <a:rPr lang="en-US" sz="2080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solución</a:t>
            </a:r>
            <a:r>
              <a:rPr lang="en-US" sz="2080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080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accesible</a:t>
            </a:r>
            <a:r>
              <a:rPr lang="en-US" sz="2080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con </a:t>
            </a:r>
            <a:r>
              <a:rPr lang="en-US" sz="2080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foco</a:t>
            </a:r>
            <a:endParaRPr lang="en-US" sz="2080" dirty="0">
              <a:solidFill>
                <a:srgbClr val="FFFFFF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2496"/>
              </a:lnSpc>
            </a:pPr>
            <a:r>
              <a:rPr lang="en-US" sz="2080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en</a:t>
            </a:r>
            <a:r>
              <a:rPr lang="en-US" sz="2080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080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necesidades</a:t>
            </a:r>
            <a:r>
              <a:rPr lang="en-US" sz="2080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080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reales</a:t>
            </a:r>
            <a:r>
              <a:rPr lang="en-US" sz="2080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del </a:t>
            </a:r>
            <a:r>
              <a:rPr lang="en-US" sz="2080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entorno</a:t>
            </a:r>
            <a:r>
              <a:rPr lang="en-US" sz="2080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2080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educativo</a:t>
            </a:r>
            <a:r>
              <a:rPr lang="en-US" sz="2080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277493" y="3915199"/>
            <a:ext cx="7855176" cy="4988875"/>
            <a:chOff x="0" y="0"/>
            <a:chExt cx="2068853" cy="13139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68853" cy="1313942"/>
            </a:xfrm>
            <a:custGeom>
              <a:avLst/>
              <a:gdLst/>
              <a:ahLst/>
              <a:cxnLst/>
              <a:rect l="l" t="t" r="r" b="b"/>
              <a:pathLst>
                <a:path w="2068853" h="1313942">
                  <a:moveTo>
                    <a:pt x="34495" y="0"/>
                  </a:moveTo>
                  <a:lnTo>
                    <a:pt x="2034358" y="0"/>
                  </a:lnTo>
                  <a:cubicBezTo>
                    <a:pt x="2053409" y="0"/>
                    <a:pt x="2068853" y="15444"/>
                    <a:pt x="2068853" y="34495"/>
                  </a:cubicBezTo>
                  <a:lnTo>
                    <a:pt x="2068853" y="1279447"/>
                  </a:lnTo>
                  <a:cubicBezTo>
                    <a:pt x="2068853" y="1298498"/>
                    <a:pt x="2053409" y="1313942"/>
                    <a:pt x="2034358" y="1313942"/>
                  </a:cubicBezTo>
                  <a:lnTo>
                    <a:pt x="34495" y="1313942"/>
                  </a:lnTo>
                  <a:cubicBezTo>
                    <a:pt x="25347" y="1313942"/>
                    <a:pt x="16573" y="1310308"/>
                    <a:pt x="10103" y="1303839"/>
                  </a:cubicBezTo>
                  <a:cubicBezTo>
                    <a:pt x="3634" y="1297370"/>
                    <a:pt x="0" y="1288596"/>
                    <a:pt x="0" y="1279447"/>
                  </a:cubicBezTo>
                  <a:lnTo>
                    <a:pt x="0" y="34495"/>
                  </a:lnTo>
                  <a:cubicBezTo>
                    <a:pt x="0" y="15444"/>
                    <a:pt x="15444" y="0"/>
                    <a:pt x="34495" y="0"/>
                  </a:cubicBezTo>
                  <a:close/>
                </a:path>
              </a:pathLst>
            </a:custGeom>
            <a:ln w="38100" cap="rnd">
              <a:solidFill>
                <a:srgbClr val="F6077E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068853" cy="1342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 flipH="1">
            <a:off x="2521928" y="4038768"/>
            <a:ext cx="21519" cy="4694136"/>
          </a:xfrm>
          <a:prstGeom prst="line">
            <a:avLst/>
          </a:prstGeom>
          <a:ln w="47625" cap="flat">
            <a:solidFill>
              <a:srgbClr val="F6077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1155331" y="3915199"/>
            <a:ext cx="7855176" cy="4988875"/>
            <a:chOff x="0" y="0"/>
            <a:chExt cx="2068853" cy="131394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68853" cy="1313942"/>
            </a:xfrm>
            <a:custGeom>
              <a:avLst/>
              <a:gdLst/>
              <a:ahLst/>
              <a:cxnLst/>
              <a:rect l="l" t="t" r="r" b="b"/>
              <a:pathLst>
                <a:path w="2068853" h="1313942">
                  <a:moveTo>
                    <a:pt x="34495" y="0"/>
                  </a:moveTo>
                  <a:lnTo>
                    <a:pt x="2034358" y="0"/>
                  </a:lnTo>
                  <a:cubicBezTo>
                    <a:pt x="2053409" y="0"/>
                    <a:pt x="2068853" y="15444"/>
                    <a:pt x="2068853" y="34495"/>
                  </a:cubicBezTo>
                  <a:lnTo>
                    <a:pt x="2068853" y="1279447"/>
                  </a:lnTo>
                  <a:cubicBezTo>
                    <a:pt x="2068853" y="1298498"/>
                    <a:pt x="2053409" y="1313942"/>
                    <a:pt x="2034358" y="1313942"/>
                  </a:cubicBezTo>
                  <a:lnTo>
                    <a:pt x="34495" y="1313942"/>
                  </a:lnTo>
                  <a:cubicBezTo>
                    <a:pt x="25347" y="1313942"/>
                    <a:pt x="16573" y="1310308"/>
                    <a:pt x="10103" y="1303839"/>
                  </a:cubicBezTo>
                  <a:cubicBezTo>
                    <a:pt x="3634" y="1297370"/>
                    <a:pt x="0" y="1288596"/>
                    <a:pt x="0" y="1279447"/>
                  </a:cubicBezTo>
                  <a:lnTo>
                    <a:pt x="0" y="34495"/>
                  </a:lnTo>
                  <a:cubicBezTo>
                    <a:pt x="0" y="15444"/>
                    <a:pt x="15444" y="0"/>
                    <a:pt x="34495" y="0"/>
                  </a:cubicBezTo>
                  <a:close/>
                </a:path>
              </a:pathLst>
            </a:custGeom>
            <a:ln w="38100" cap="rnd">
              <a:solidFill>
                <a:srgbClr val="F6077E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2068853" cy="1342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 flipH="1">
            <a:off x="10644090" y="4038768"/>
            <a:ext cx="21519" cy="4694136"/>
          </a:xfrm>
          <a:prstGeom prst="line">
            <a:avLst/>
          </a:prstGeom>
          <a:ln w="47625" cap="flat">
            <a:solidFill>
              <a:srgbClr val="F607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Freeform 18"/>
          <p:cNvSpPr/>
          <p:nvPr/>
        </p:nvSpPr>
        <p:spPr>
          <a:xfrm>
            <a:off x="9375357" y="4264506"/>
            <a:ext cx="1135495" cy="1056010"/>
          </a:xfrm>
          <a:custGeom>
            <a:avLst/>
            <a:gdLst/>
            <a:ahLst/>
            <a:cxnLst/>
            <a:rect l="l" t="t" r="r" b="b"/>
            <a:pathLst>
              <a:path w="1135495" h="1056010">
                <a:moveTo>
                  <a:pt x="0" y="0"/>
                </a:moveTo>
                <a:lnTo>
                  <a:pt x="1135495" y="0"/>
                </a:lnTo>
                <a:lnTo>
                  <a:pt x="1135495" y="1056010"/>
                </a:lnTo>
                <a:lnTo>
                  <a:pt x="0" y="10560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2452898" y="9289333"/>
            <a:ext cx="14360527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8"/>
              </a:lnSpc>
            </a:pPr>
            <a:r>
              <a:rPr lang="en-US" sz="2715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La complementariedad del equipo fortalece la gestión, el desarrollo y la orientación accesible de Nexo360.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1426304"/>
            <a:ext cx="17259300" cy="1408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92"/>
              </a:lnSpc>
            </a:pPr>
            <a:r>
              <a:rPr lang="en-US" sz="8280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Intereses profesionales del equipo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2896024"/>
            <a:ext cx="1623060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8"/>
              </a:lnSpc>
            </a:pPr>
            <a:r>
              <a:rPr lang="en-US" sz="3015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Nexo</a:t>
            </a:r>
            <a:r>
              <a:rPr lang="en-US" sz="3015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360 </a:t>
            </a:r>
            <a:r>
              <a:rPr lang="en-US" sz="3015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permite</a:t>
            </a:r>
            <a:r>
              <a:rPr lang="en-US" sz="3015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que </a:t>
            </a:r>
            <a:r>
              <a:rPr lang="en-US" sz="3015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cada</a:t>
            </a:r>
            <a:r>
              <a:rPr lang="en-US" sz="3015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15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integrante</a:t>
            </a:r>
            <a:r>
              <a:rPr lang="en-US" sz="3015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15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aplique</a:t>
            </a:r>
            <a:r>
              <a:rPr lang="en-US" sz="3015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sus </a:t>
            </a:r>
            <a:r>
              <a:rPr lang="en-US" sz="3015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fortalezas</a:t>
            </a:r>
            <a:r>
              <a:rPr lang="en-US" sz="3015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y </a:t>
            </a:r>
            <a:r>
              <a:rPr lang="en-US" sz="3015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proyecte</a:t>
            </a:r>
            <a:r>
              <a:rPr lang="en-US" sz="3015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sus </a:t>
            </a:r>
            <a:r>
              <a:rPr lang="en-US" sz="3015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intereses</a:t>
            </a:r>
            <a:r>
              <a:rPr lang="en-US" sz="3015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15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profesionales</a:t>
            </a:r>
            <a:r>
              <a:rPr lang="en-US" sz="3015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15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en</a:t>
            </a:r>
            <a:r>
              <a:rPr lang="en-US" sz="3015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una </a:t>
            </a:r>
            <a:r>
              <a:rPr lang="en-US" sz="3015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solución</a:t>
            </a:r>
            <a:r>
              <a:rPr lang="en-US" sz="3015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digital con </a:t>
            </a:r>
            <a:r>
              <a:rPr lang="en-US" sz="3015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impacto</a:t>
            </a:r>
            <a:r>
              <a:rPr lang="en-US" sz="3015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real.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1210718"/>
            <a:ext cx="9643252" cy="570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3315">
                <a:solidFill>
                  <a:srgbClr val="F6077E"/>
                </a:solidFill>
                <a:latin typeface="Clear Sans"/>
                <a:ea typeface="Clear Sans"/>
                <a:cs typeface="Clear Sans"/>
                <a:sym typeface="Clear Sans"/>
              </a:rPr>
              <a:t>Evaluación individual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894303" y="4038768"/>
            <a:ext cx="6238365" cy="476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6"/>
              </a:lnSpc>
            </a:pPr>
            <a:r>
              <a:rPr lang="en-US" sz="2380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Cristian Guzmán García</a:t>
            </a:r>
          </a:p>
          <a:p>
            <a:pPr algn="l">
              <a:lnSpc>
                <a:spcPts val="2496"/>
              </a:lnSpc>
            </a:pPr>
            <a:r>
              <a:rPr lang="en-US" sz="2080">
                <a:solidFill>
                  <a:srgbClr val="F6077E"/>
                </a:solidFill>
                <a:latin typeface="Clear Sans"/>
                <a:ea typeface="Clear Sans"/>
                <a:cs typeface="Clear Sans"/>
                <a:sym typeface="Clear Sans"/>
              </a:rPr>
              <a:t>Desarrollo - Datos - QA</a:t>
            </a:r>
          </a:p>
          <a:p>
            <a:pPr algn="l">
              <a:lnSpc>
                <a:spcPts val="2496"/>
              </a:lnSpc>
            </a:pPr>
            <a:endParaRPr lang="en-US" sz="2080">
              <a:solidFill>
                <a:srgbClr val="F6077E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2496"/>
              </a:lnSpc>
            </a:pPr>
            <a:r>
              <a:rPr lang="en-US" sz="2080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Aporta</a:t>
            </a:r>
          </a:p>
          <a:p>
            <a:pPr algn="l">
              <a:lnSpc>
                <a:spcPts val="2496"/>
              </a:lnSpc>
            </a:pPr>
            <a:r>
              <a:rPr lang="en-US" sz="208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Desarrollo de software, arquitectura, modelamiento</a:t>
            </a:r>
          </a:p>
          <a:p>
            <a:pPr algn="l">
              <a:lnSpc>
                <a:spcPts val="2496"/>
              </a:lnSpc>
            </a:pPr>
            <a:r>
              <a:rPr lang="en-US" sz="208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de datos, pruebas y análisis de información.</a:t>
            </a:r>
          </a:p>
          <a:p>
            <a:pPr algn="l">
              <a:lnSpc>
                <a:spcPts val="2496"/>
              </a:lnSpc>
            </a:pPr>
            <a:endParaRPr lang="en-US" sz="2080">
              <a:solidFill>
                <a:srgbClr val="FFFFFF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2496"/>
              </a:lnSpc>
            </a:pPr>
            <a:r>
              <a:rPr lang="en-US" sz="2080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Interés profesional</a:t>
            </a:r>
          </a:p>
          <a:p>
            <a:pPr algn="l">
              <a:lnSpc>
                <a:spcPts val="2496"/>
              </a:lnSpc>
            </a:pPr>
            <a:r>
              <a:rPr lang="en-US" sz="208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Ciencia de datos, estructuracion de información y</a:t>
            </a:r>
          </a:p>
          <a:p>
            <a:pPr algn="l">
              <a:lnSpc>
                <a:spcPts val="2496"/>
              </a:lnSpc>
            </a:pPr>
            <a:r>
              <a:rPr lang="en-US" sz="208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apoyo a la toma de decisiones.</a:t>
            </a:r>
          </a:p>
          <a:p>
            <a:pPr algn="l">
              <a:lnSpc>
                <a:spcPts val="2496"/>
              </a:lnSpc>
            </a:pPr>
            <a:endParaRPr lang="en-US" sz="2080">
              <a:solidFill>
                <a:srgbClr val="FFFFFF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2496"/>
              </a:lnSpc>
            </a:pPr>
            <a:r>
              <a:rPr lang="en-US" sz="2080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Relación con Nexo360</a:t>
            </a:r>
          </a:p>
          <a:p>
            <a:pPr algn="l">
              <a:lnSpc>
                <a:spcPts val="2496"/>
              </a:lnSpc>
            </a:pPr>
            <a:r>
              <a:rPr lang="en-US" sz="208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Permite construir una plataforma organizada,</a:t>
            </a:r>
          </a:p>
          <a:p>
            <a:pPr algn="l">
              <a:lnSpc>
                <a:spcPts val="2496"/>
              </a:lnSpc>
            </a:pPr>
            <a:r>
              <a:rPr lang="en-US" sz="208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funcional y medible para orientar a estudiantes</a:t>
            </a:r>
          </a:p>
          <a:p>
            <a:pPr algn="l">
              <a:lnSpc>
                <a:spcPts val="2496"/>
              </a:lnSpc>
            </a:pPr>
            <a:r>
              <a:rPr lang="en-US" sz="208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PAEDIS.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30527" y="1146668"/>
            <a:ext cx="2391632" cy="2138"/>
          </a:xfrm>
          <a:prstGeom prst="line">
            <a:avLst/>
          </a:prstGeom>
          <a:ln w="47625" cap="flat">
            <a:solidFill>
              <a:srgbClr val="F607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1126909" y="392539"/>
            <a:ext cx="6597312" cy="1187516"/>
          </a:xfrm>
          <a:custGeom>
            <a:avLst/>
            <a:gdLst/>
            <a:ahLst/>
            <a:cxnLst/>
            <a:rect l="l" t="t" r="r" b="b"/>
            <a:pathLst>
              <a:path w="6597312" h="1187516">
                <a:moveTo>
                  <a:pt x="0" y="0"/>
                </a:moveTo>
                <a:lnTo>
                  <a:pt x="6597312" y="0"/>
                </a:lnTo>
                <a:lnTo>
                  <a:pt x="6597312" y="1187516"/>
                </a:lnTo>
                <a:lnTo>
                  <a:pt x="0" y="11875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288824" y="9184592"/>
            <a:ext cx="15710352" cy="1007912"/>
            <a:chOff x="0" y="0"/>
            <a:chExt cx="20947137" cy="1343883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20947137" cy="1343883"/>
              <a:chOff x="0" y="0"/>
              <a:chExt cx="4137706" cy="26545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137706" cy="265458"/>
              </a:xfrm>
              <a:custGeom>
                <a:avLst/>
                <a:gdLst/>
                <a:ahLst/>
                <a:cxnLst/>
                <a:rect l="l" t="t" r="r" b="b"/>
                <a:pathLst>
                  <a:path w="4137706" h="265458">
                    <a:moveTo>
                      <a:pt x="17248" y="0"/>
                    </a:moveTo>
                    <a:lnTo>
                      <a:pt x="4120458" y="0"/>
                    </a:lnTo>
                    <a:cubicBezTo>
                      <a:pt x="4129984" y="0"/>
                      <a:pt x="4137706" y="7722"/>
                      <a:pt x="4137706" y="17248"/>
                    </a:cubicBezTo>
                    <a:lnTo>
                      <a:pt x="4137706" y="248211"/>
                    </a:lnTo>
                    <a:cubicBezTo>
                      <a:pt x="4137706" y="252785"/>
                      <a:pt x="4135889" y="257172"/>
                      <a:pt x="4132654" y="260407"/>
                    </a:cubicBezTo>
                    <a:cubicBezTo>
                      <a:pt x="4129420" y="263641"/>
                      <a:pt x="4125033" y="265458"/>
                      <a:pt x="4120458" y="265458"/>
                    </a:cubicBezTo>
                    <a:lnTo>
                      <a:pt x="17248" y="265458"/>
                    </a:lnTo>
                    <a:cubicBezTo>
                      <a:pt x="12673" y="265458"/>
                      <a:pt x="8286" y="263641"/>
                      <a:pt x="5052" y="260407"/>
                    </a:cubicBezTo>
                    <a:cubicBezTo>
                      <a:pt x="1817" y="257172"/>
                      <a:pt x="0" y="252785"/>
                      <a:pt x="0" y="248211"/>
                    </a:cubicBezTo>
                    <a:lnTo>
                      <a:pt x="0" y="17248"/>
                    </a:lnTo>
                    <a:cubicBezTo>
                      <a:pt x="0" y="12673"/>
                      <a:pt x="1817" y="8286"/>
                      <a:pt x="5052" y="5052"/>
                    </a:cubicBezTo>
                    <a:cubicBezTo>
                      <a:pt x="8286" y="1817"/>
                      <a:pt x="12673" y="0"/>
                      <a:pt x="17248" y="0"/>
                    </a:cubicBezTo>
                    <a:close/>
                  </a:path>
                </a:pathLst>
              </a:custGeom>
              <a:ln w="38100" cap="rnd">
                <a:solidFill>
                  <a:srgbClr val="F6077E"/>
                </a:solidFill>
                <a:prstDash val="solid"/>
                <a:round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28575"/>
                <a:ext cx="4137706" cy="294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552100" y="139655"/>
              <a:ext cx="19147369" cy="1092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58"/>
                </a:lnSpc>
              </a:pPr>
              <a:r>
                <a:rPr lang="en-US" sz="2715" b="1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Los objetivos articulan requisitos, diseño, desarrollo, integración y validación en una misma ruta de trabajo.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342222" y="127000"/>
              <a:ext cx="1067720" cy="1067720"/>
            </a:xfrm>
            <a:custGeom>
              <a:avLst/>
              <a:gdLst/>
              <a:ahLst/>
              <a:cxnLst/>
              <a:rect l="l" t="t" r="r" b="b"/>
              <a:pathLst>
                <a:path w="1067720" h="1067720">
                  <a:moveTo>
                    <a:pt x="0" y="0"/>
                  </a:moveTo>
                  <a:lnTo>
                    <a:pt x="1067720" y="0"/>
                  </a:lnTo>
                  <a:lnTo>
                    <a:pt x="1067720" y="1067720"/>
                  </a:lnTo>
                  <a:lnTo>
                    <a:pt x="0" y="1067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611402" y="3867574"/>
            <a:ext cx="15065195" cy="5195645"/>
          </a:xfrm>
          <a:custGeom>
            <a:avLst/>
            <a:gdLst/>
            <a:ahLst/>
            <a:cxnLst/>
            <a:rect l="l" t="t" r="r" b="b"/>
            <a:pathLst>
              <a:path w="15065195" h="5195645">
                <a:moveTo>
                  <a:pt x="0" y="0"/>
                </a:moveTo>
                <a:lnTo>
                  <a:pt x="15065196" y="0"/>
                </a:lnTo>
                <a:lnTo>
                  <a:pt x="15065196" y="5195645"/>
                </a:lnTo>
                <a:lnTo>
                  <a:pt x="0" y="51956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1426304"/>
            <a:ext cx="17259300" cy="1408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92"/>
              </a:lnSpc>
            </a:pPr>
            <a:r>
              <a:rPr lang="en-US" sz="8280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Objetivos del proyecto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896024"/>
            <a:ext cx="1623060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8"/>
              </a:lnSpc>
            </a:pPr>
            <a:r>
              <a:rPr lang="en-US" sz="3015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Los objetivos de Nexo360 orientan al desarrollo de una solución accesible, pertinente y viable para estudiantes PAEDIS de Duoc UC.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210718"/>
            <a:ext cx="9643252" cy="570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3315">
                <a:solidFill>
                  <a:srgbClr val="F6077E"/>
                </a:solidFill>
                <a:latin typeface="Clear Sans"/>
                <a:ea typeface="Clear Sans"/>
                <a:cs typeface="Clear Sans"/>
                <a:sym typeface="Clear Sans"/>
              </a:rPr>
              <a:t>Definición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30527" y="1146668"/>
            <a:ext cx="2391632" cy="2138"/>
          </a:xfrm>
          <a:prstGeom prst="line">
            <a:avLst/>
          </a:prstGeom>
          <a:ln w="47625" cap="flat">
            <a:solidFill>
              <a:srgbClr val="F607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1126909" y="392539"/>
            <a:ext cx="6597312" cy="1187516"/>
          </a:xfrm>
          <a:custGeom>
            <a:avLst/>
            <a:gdLst/>
            <a:ahLst/>
            <a:cxnLst/>
            <a:rect l="l" t="t" r="r" b="b"/>
            <a:pathLst>
              <a:path w="6597312" h="1187516">
                <a:moveTo>
                  <a:pt x="0" y="0"/>
                </a:moveTo>
                <a:lnTo>
                  <a:pt x="6597312" y="0"/>
                </a:lnTo>
                <a:lnTo>
                  <a:pt x="6597312" y="1187516"/>
                </a:lnTo>
                <a:lnTo>
                  <a:pt x="0" y="11875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21886" y="3915199"/>
            <a:ext cx="15844229" cy="6228578"/>
          </a:xfrm>
          <a:custGeom>
            <a:avLst/>
            <a:gdLst/>
            <a:ahLst/>
            <a:cxnLst/>
            <a:rect l="l" t="t" r="r" b="b"/>
            <a:pathLst>
              <a:path w="15844229" h="6228578">
                <a:moveTo>
                  <a:pt x="0" y="0"/>
                </a:moveTo>
                <a:lnTo>
                  <a:pt x="15844228" y="0"/>
                </a:lnTo>
                <a:lnTo>
                  <a:pt x="15844228" y="6228578"/>
                </a:lnTo>
                <a:lnTo>
                  <a:pt x="0" y="62285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426304"/>
            <a:ext cx="17259300" cy="1408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92"/>
              </a:lnSpc>
            </a:pPr>
            <a:r>
              <a:rPr lang="en-US" sz="8280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Metodología de trabajo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896024"/>
            <a:ext cx="1623060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8"/>
              </a:lnSpc>
            </a:pPr>
            <a:r>
              <a:rPr lang="en-US" sz="3015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Nexo360 se desarrollará con una metodología ágil adaptada al equipo, complementada con diseño centrado en el usuario y accesibilidad transversal desde el inicio.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210718"/>
            <a:ext cx="9643252" cy="570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3315">
                <a:solidFill>
                  <a:srgbClr val="F6077E"/>
                </a:solidFill>
                <a:latin typeface="Clear Sans"/>
                <a:ea typeface="Clear Sans"/>
                <a:cs typeface="Clear Sans"/>
                <a:sym typeface="Clear Sans"/>
              </a:rPr>
              <a:t>Ejecución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30527" y="1146668"/>
            <a:ext cx="2391632" cy="2138"/>
          </a:xfrm>
          <a:prstGeom prst="line">
            <a:avLst/>
          </a:prstGeom>
          <a:ln w="47625" cap="flat">
            <a:solidFill>
              <a:srgbClr val="F607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1126909" y="392539"/>
            <a:ext cx="6597312" cy="1187516"/>
          </a:xfrm>
          <a:custGeom>
            <a:avLst/>
            <a:gdLst/>
            <a:ahLst/>
            <a:cxnLst/>
            <a:rect l="l" t="t" r="r" b="b"/>
            <a:pathLst>
              <a:path w="6597312" h="1187516">
                <a:moveTo>
                  <a:pt x="0" y="0"/>
                </a:moveTo>
                <a:lnTo>
                  <a:pt x="6597312" y="0"/>
                </a:lnTo>
                <a:lnTo>
                  <a:pt x="6597312" y="1187516"/>
                </a:lnTo>
                <a:lnTo>
                  <a:pt x="0" y="11875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76429" y="4010449"/>
            <a:ext cx="15935143" cy="6130635"/>
          </a:xfrm>
          <a:custGeom>
            <a:avLst/>
            <a:gdLst/>
            <a:ahLst/>
            <a:cxnLst/>
            <a:rect l="l" t="t" r="r" b="b"/>
            <a:pathLst>
              <a:path w="15935143" h="6130635">
                <a:moveTo>
                  <a:pt x="0" y="0"/>
                </a:moveTo>
                <a:lnTo>
                  <a:pt x="15935142" y="0"/>
                </a:lnTo>
                <a:lnTo>
                  <a:pt x="15935142" y="6130635"/>
                </a:lnTo>
                <a:lnTo>
                  <a:pt x="0" y="6130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435829"/>
            <a:ext cx="17259300" cy="126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33"/>
              </a:lnSpc>
            </a:pPr>
            <a:r>
              <a:rPr lang="en-US" sz="7380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¿Podemos hacerlo? Sí, y así lo haremos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896024"/>
            <a:ext cx="1623060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8"/>
              </a:lnSpc>
            </a:pPr>
            <a:r>
              <a:rPr lang="en-US" sz="3015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Hemos evaluado los recursos, apoyos y posibles obstáculos para garantizar la viabilidad del proyecto dentro del plazo de 11 semanas.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210718"/>
            <a:ext cx="9643252" cy="570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3315">
                <a:solidFill>
                  <a:srgbClr val="F6077E"/>
                </a:solidFill>
                <a:latin typeface="Clear Sans"/>
                <a:ea typeface="Clear Sans"/>
                <a:cs typeface="Clear Sans"/>
                <a:sym typeface="Clear Sans"/>
              </a:rPr>
              <a:t>Factibilidad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30527" y="1146668"/>
            <a:ext cx="2391632" cy="2138"/>
          </a:xfrm>
          <a:prstGeom prst="line">
            <a:avLst/>
          </a:prstGeom>
          <a:ln w="47625" cap="flat">
            <a:solidFill>
              <a:srgbClr val="F607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1126909" y="392539"/>
            <a:ext cx="6597312" cy="1187516"/>
          </a:xfrm>
          <a:custGeom>
            <a:avLst/>
            <a:gdLst/>
            <a:ahLst/>
            <a:cxnLst/>
            <a:rect l="l" t="t" r="r" b="b"/>
            <a:pathLst>
              <a:path w="6597312" h="1187516">
                <a:moveTo>
                  <a:pt x="0" y="0"/>
                </a:moveTo>
                <a:lnTo>
                  <a:pt x="6597312" y="0"/>
                </a:lnTo>
                <a:lnTo>
                  <a:pt x="6597312" y="1187516"/>
                </a:lnTo>
                <a:lnTo>
                  <a:pt x="0" y="11875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8299" y="3915199"/>
            <a:ext cx="15331402" cy="6191936"/>
          </a:xfrm>
          <a:custGeom>
            <a:avLst/>
            <a:gdLst/>
            <a:ahLst/>
            <a:cxnLst/>
            <a:rect l="l" t="t" r="r" b="b"/>
            <a:pathLst>
              <a:path w="15331402" h="6191936">
                <a:moveTo>
                  <a:pt x="0" y="0"/>
                </a:moveTo>
                <a:lnTo>
                  <a:pt x="15331402" y="0"/>
                </a:lnTo>
                <a:lnTo>
                  <a:pt x="15331402" y="6191936"/>
                </a:lnTo>
                <a:lnTo>
                  <a:pt x="0" y="61919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426304"/>
            <a:ext cx="17259300" cy="1408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92"/>
              </a:lnSpc>
            </a:pPr>
            <a:r>
              <a:rPr lang="en-US" sz="8280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¿Cuándo lo haremos?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896024"/>
            <a:ext cx="1725930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8"/>
              </a:lnSpc>
            </a:pPr>
            <a:r>
              <a:rPr lang="en-US" sz="3015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El proyecto contempla 18 semanas totales:</a:t>
            </a:r>
          </a:p>
          <a:p>
            <a:pPr algn="l">
              <a:lnSpc>
                <a:spcPts val="3618"/>
              </a:lnSpc>
            </a:pPr>
            <a:r>
              <a:rPr lang="en-US" sz="3015">
                <a:solidFill>
                  <a:srgbClr val="F6077E"/>
                </a:solidFill>
                <a:latin typeface="Clear Sans"/>
                <a:ea typeface="Clear Sans"/>
                <a:cs typeface="Clear Sans"/>
                <a:sym typeface="Clear Sans"/>
              </a:rPr>
              <a:t>4 semanas</a:t>
            </a:r>
            <a:r>
              <a:rPr lang="en-US" sz="3015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de definición y planificación, </a:t>
            </a:r>
            <a:r>
              <a:rPr lang="en-US" sz="3015">
                <a:solidFill>
                  <a:srgbClr val="FAB427"/>
                </a:solidFill>
                <a:latin typeface="Clear Sans"/>
                <a:ea typeface="Clear Sans"/>
                <a:cs typeface="Clear Sans"/>
                <a:sym typeface="Clear Sans"/>
              </a:rPr>
              <a:t>11 semanas</a:t>
            </a:r>
            <a:r>
              <a:rPr lang="en-US" sz="3015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de desarrollo y </a:t>
            </a:r>
            <a:r>
              <a:rPr lang="en-US" sz="3015">
                <a:solidFill>
                  <a:srgbClr val="F6077E"/>
                </a:solidFill>
                <a:latin typeface="Clear Sans"/>
                <a:ea typeface="Clear Sans"/>
                <a:cs typeface="Clear Sans"/>
                <a:sym typeface="Clear Sans"/>
              </a:rPr>
              <a:t>3 semanas</a:t>
            </a:r>
            <a:r>
              <a:rPr lang="en-US" sz="3015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de cierre y defensa.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210718"/>
            <a:ext cx="9643252" cy="570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3315">
                <a:solidFill>
                  <a:srgbClr val="F6077E"/>
                </a:solidFill>
                <a:latin typeface="Clear Sans"/>
                <a:ea typeface="Clear Sans"/>
                <a:cs typeface="Clear Sans"/>
                <a:sym typeface="Clear Sans"/>
              </a:rPr>
              <a:t>Plan temporal + hitos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30527" y="933909"/>
            <a:ext cx="2391632" cy="2138"/>
          </a:xfrm>
          <a:prstGeom prst="line">
            <a:avLst/>
          </a:prstGeom>
          <a:ln w="47625" cap="flat">
            <a:solidFill>
              <a:srgbClr val="F607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1126909" y="392539"/>
            <a:ext cx="6597312" cy="1187516"/>
          </a:xfrm>
          <a:custGeom>
            <a:avLst/>
            <a:gdLst/>
            <a:ahLst/>
            <a:cxnLst/>
            <a:rect l="l" t="t" r="r" b="b"/>
            <a:pathLst>
              <a:path w="6597312" h="1187516">
                <a:moveTo>
                  <a:pt x="0" y="0"/>
                </a:moveTo>
                <a:lnTo>
                  <a:pt x="6597312" y="0"/>
                </a:lnTo>
                <a:lnTo>
                  <a:pt x="6597312" y="1187516"/>
                </a:lnTo>
                <a:lnTo>
                  <a:pt x="0" y="11875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5995" y="4383884"/>
            <a:ext cx="14836011" cy="5801904"/>
          </a:xfrm>
          <a:custGeom>
            <a:avLst/>
            <a:gdLst/>
            <a:ahLst/>
            <a:cxnLst/>
            <a:rect l="l" t="t" r="r" b="b"/>
            <a:pathLst>
              <a:path w="14836011" h="5801904">
                <a:moveTo>
                  <a:pt x="0" y="0"/>
                </a:moveTo>
                <a:lnTo>
                  <a:pt x="14836010" y="0"/>
                </a:lnTo>
                <a:lnTo>
                  <a:pt x="14836010" y="5801904"/>
                </a:lnTo>
                <a:lnTo>
                  <a:pt x="0" y="58019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623121"/>
            <a:ext cx="17259300" cy="1741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28"/>
              </a:lnSpc>
            </a:pPr>
            <a:r>
              <a:rPr lang="en-US" sz="7680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Recursos, responsables, facilitadores y obstaculizadores.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364709"/>
            <a:ext cx="1623060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8"/>
              </a:lnSpc>
            </a:pPr>
            <a:r>
              <a:rPr lang="en-US" sz="3015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Contamos con los recursos esenciales, roles definidos y una estrategia clara para ejecutar Nexo360 dentro del plazo establecido.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997959"/>
            <a:ext cx="9643252" cy="570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3315">
                <a:solidFill>
                  <a:srgbClr val="F6077E"/>
                </a:solidFill>
                <a:latin typeface="Clear Sans"/>
                <a:ea typeface="Clear Sans"/>
                <a:cs typeface="Clear Sans"/>
                <a:sym typeface="Clear Sans"/>
              </a:rPr>
              <a:t>Plan de trabajo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30527" y="1146668"/>
            <a:ext cx="2391632" cy="2138"/>
          </a:xfrm>
          <a:prstGeom prst="line">
            <a:avLst/>
          </a:prstGeom>
          <a:ln w="47625" cap="flat">
            <a:solidFill>
              <a:srgbClr val="F607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1126909" y="392539"/>
            <a:ext cx="6597312" cy="1187516"/>
          </a:xfrm>
          <a:custGeom>
            <a:avLst/>
            <a:gdLst/>
            <a:ahLst/>
            <a:cxnLst/>
            <a:rect l="l" t="t" r="r" b="b"/>
            <a:pathLst>
              <a:path w="6597312" h="1187516">
                <a:moveTo>
                  <a:pt x="0" y="0"/>
                </a:moveTo>
                <a:lnTo>
                  <a:pt x="6597312" y="0"/>
                </a:lnTo>
                <a:lnTo>
                  <a:pt x="6597312" y="1187516"/>
                </a:lnTo>
                <a:lnTo>
                  <a:pt x="0" y="11875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64264" y="3762799"/>
            <a:ext cx="15759472" cy="6524201"/>
          </a:xfrm>
          <a:custGeom>
            <a:avLst/>
            <a:gdLst/>
            <a:ahLst/>
            <a:cxnLst/>
            <a:rect l="l" t="t" r="r" b="b"/>
            <a:pathLst>
              <a:path w="15759472" h="6524201">
                <a:moveTo>
                  <a:pt x="0" y="0"/>
                </a:moveTo>
                <a:lnTo>
                  <a:pt x="15759472" y="0"/>
                </a:lnTo>
                <a:lnTo>
                  <a:pt x="15759472" y="6524201"/>
                </a:lnTo>
                <a:lnTo>
                  <a:pt x="0" y="65242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559654"/>
            <a:ext cx="17259300" cy="1062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53"/>
              </a:lnSpc>
            </a:pPr>
            <a:r>
              <a:rPr lang="en-US" sz="6180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¿Cómo sabremos que vamos por buen camino?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734099"/>
            <a:ext cx="1623060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8"/>
              </a:lnSpc>
            </a:pPr>
            <a:r>
              <a:rPr lang="en-US" sz="3015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Definimos los entregables y evidencias que nos permitirán evaluar el avance, validar los resultados y demostrar el valor del proyecto.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210718"/>
            <a:ext cx="9643252" cy="570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3315">
                <a:solidFill>
                  <a:srgbClr val="F6077E"/>
                </a:solidFill>
                <a:latin typeface="Clear Sans"/>
                <a:ea typeface="Clear Sans"/>
                <a:cs typeface="Clear Sans"/>
                <a:sym typeface="Clear Sans"/>
              </a:rPr>
              <a:t>Evidencias + justificación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30527" y="1146668"/>
            <a:ext cx="2391632" cy="2138"/>
          </a:xfrm>
          <a:prstGeom prst="line">
            <a:avLst/>
          </a:prstGeom>
          <a:ln w="47625" cap="flat">
            <a:solidFill>
              <a:srgbClr val="F607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1126909" y="392539"/>
            <a:ext cx="6597312" cy="1187516"/>
          </a:xfrm>
          <a:custGeom>
            <a:avLst/>
            <a:gdLst/>
            <a:ahLst/>
            <a:cxnLst/>
            <a:rect l="l" t="t" r="r" b="b"/>
            <a:pathLst>
              <a:path w="6597312" h="1187516">
                <a:moveTo>
                  <a:pt x="0" y="0"/>
                </a:moveTo>
                <a:lnTo>
                  <a:pt x="6597312" y="0"/>
                </a:lnTo>
                <a:lnTo>
                  <a:pt x="6597312" y="1187516"/>
                </a:lnTo>
                <a:lnTo>
                  <a:pt x="0" y="11875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86736" y="4777817"/>
            <a:ext cx="16514528" cy="5420271"/>
          </a:xfrm>
          <a:custGeom>
            <a:avLst/>
            <a:gdLst/>
            <a:ahLst/>
            <a:cxnLst/>
            <a:rect l="l" t="t" r="r" b="b"/>
            <a:pathLst>
              <a:path w="16514528" h="5420271">
                <a:moveTo>
                  <a:pt x="0" y="0"/>
                </a:moveTo>
                <a:lnTo>
                  <a:pt x="16514528" y="0"/>
                </a:lnTo>
                <a:lnTo>
                  <a:pt x="16514528" y="5420272"/>
                </a:lnTo>
                <a:lnTo>
                  <a:pt x="0" y="5420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864454"/>
            <a:ext cx="17259300" cy="1789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7"/>
              </a:lnSpc>
            </a:pPr>
            <a:r>
              <a:rPr lang="en-US" sz="8080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Nexo 360: una propuesta pertinente, viable e inclusiva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758642"/>
            <a:ext cx="1623060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8"/>
              </a:lnSpc>
            </a:pPr>
            <a:r>
              <a:rPr lang="en-US" sz="3015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La </a:t>
            </a:r>
            <a:r>
              <a:rPr lang="en-US" sz="3015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propuesta</a:t>
            </a:r>
            <a:r>
              <a:rPr lang="en-US" sz="3015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integra una </a:t>
            </a:r>
            <a:r>
              <a:rPr lang="en-US" sz="3015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necesidad</a:t>
            </a:r>
            <a:r>
              <a:rPr lang="en-US" sz="3015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real del </a:t>
            </a:r>
            <a:r>
              <a:rPr lang="en-US" sz="3015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entorno</a:t>
            </a:r>
            <a:r>
              <a:rPr lang="en-US" sz="3015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15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educativo</a:t>
            </a:r>
            <a:r>
              <a:rPr lang="en-US" sz="3015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, una </a:t>
            </a:r>
            <a:r>
              <a:rPr lang="en-US" sz="3015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solución</a:t>
            </a:r>
            <a:r>
              <a:rPr lang="en-US" sz="3015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015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factible</a:t>
            </a:r>
            <a:r>
              <a:rPr lang="en-US" sz="3015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dentro de Capstone y un </a:t>
            </a:r>
            <a:r>
              <a:rPr lang="en-US" sz="3015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compromiso</a:t>
            </a:r>
            <a:r>
              <a:rPr lang="en-US" sz="3015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transversal con la </a:t>
            </a:r>
            <a:r>
              <a:rPr lang="en-US" sz="3015" dirty="0" err="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accesibilidad</a:t>
            </a:r>
            <a:r>
              <a:rPr lang="en-US" sz="3015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digital.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210718"/>
            <a:ext cx="9643252" cy="570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3315">
                <a:solidFill>
                  <a:srgbClr val="F6077E"/>
                </a:solidFill>
                <a:latin typeface="Clear Sans"/>
                <a:ea typeface="Clear Sans"/>
                <a:cs typeface="Clear Sans"/>
                <a:sym typeface="Clear Sans"/>
              </a:rPr>
              <a:t>Cierre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934</Words>
  <Application>Microsoft Office PowerPoint</Application>
  <PresentationFormat>Personalizado</PresentationFormat>
  <Paragraphs>124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Calibri</vt:lpstr>
      <vt:lpstr>Arial</vt:lpstr>
      <vt:lpstr>Clear Sans</vt:lpstr>
      <vt:lpstr>Clear Sans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Proyecto NEXO360</dc:title>
  <cp:lastModifiedBy>AL-Alumno</cp:lastModifiedBy>
  <cp:revision>5</cp:revision>
  <dcterms:created xsi:type="dcterms:W3CDTF">2006-08-16T00:00:00Z</dcterms:created>
  <dcterms:modified xsi:type="dcterms:W3CDTF">2026-09-25T12:04:46Z</dcterms:modified>
  <dc:identifier>DAHT0xKQaPM</dc:identifier>
</cp:coreProperties>
</file>